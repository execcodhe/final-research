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Accuracy against draft labels</a:t>
            </a:r>
          </a:p>
        </c:rich>
      </c:tx>
      <c:layout/>
      <c:overlay val="0"/>
    </c:title>
    <c:autoTitleDeleted val="0"/>
    <c:plotArea>
      <c:barChart>
        <c:barDir val="col"/>
        <c:grouping val="clustered"/>
        <c:ser>
          <c:idx val="0"/>
          <c:order val="0"/>
          <c:tx>
            <c:strRef>
              <c:f>Sheet1!$B$1</c:f>
              <c:strCache>
                <c:ptCount val="1"/>
                <c:pt idx="0">
                  <c:v>Accuracy (%)</c:v>
                </c:pt>
              </c:strCache>
            </c:strRef>
          </c:tx>
          <c:spPr>
            <a:solidFill>
              <a:srgbClr val="0F766E"/>
            </a:solidFill>
          </c:spPr>
          <c:cat>
            <c:strRef>
              <c:f>Sheet1!$A$2:$A$6</c:f>
              <c:strCache>
                <c:ptCount val="5"/>
                <c:pt idx="0">
                  <c:v>B1 context only</c:v>
                </c:pt>
                <c:pt idx="1">
                  <c:v>B3 latest</c:v>
                </c:pt>
                <c:pt idx="2">
                  <c:v>B4 policy-aware</c:v>
                </c:pt>
                <c:pt idx="3">
                  <c:v>B4W + withdrawal</c:v>
                </c:pt>
                <c:pt idx="4">
                  <c:v>P reference</c:v>
                </c:pt>
              </c:strCache>
            </c:strRef>
          </c:cat>
          <c:val>
            <c:numRef>
              <c:f>Sheet1!$B$2:$B$6</c:f>
              <c:numCache>
                <c:formatCode>General</c:formatCode>
                <c:ptCount val="5"/>
                <c:pt idx="0">
                  <c:v>40.0</c:v>
                </c:pt>
                <c:pt idx="1">
                  <c:v>73.3</c:v>
                </c:pt>
                <c:pt idx="2">
                  <c:v>96.7</c:v>
                </c:pt>
                <c:pt idx="3">
                  <c:v>100.0</c:v>
                </c:pt>
                <c:pt idx="4">
                  <c:v>100.0</c:v>
                </c:pt>
              </c:numCache>
            </c:numRef>
          </c:val>
        </c:ser>
        <c:dLbls>
          <c:numFmt formatCode="0.0&quot;%&quot;" sourceLinked="0"/>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15.0"/>
          <c:min val="0.0"/>
        </c:scaling>
        <c:delete val="0"/>
        <c:axPos val="l"/>
        <c:majorTickMark val="out"/>
        <c:minorTickMark val="none"/>
        <c:tickLblPos val="nextTo"/>
        <c:txPr>
          <a:bodyPr/>
          <a:lstStyle/>
          <a:p>
            <a:pPr>
              <a:defRPr sz="12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Accuracy against silver (rule-generated) labels</a:t>
            </a:r>
          </a:p>
        </c:rich>
      </c:tx>
      <c:layout/>
      <c:overlay val="0"/>
    </c:title>
    <c:autoTitleDeleted val="0"/>
    <c:plotArea>
      <c:barChart>
        <c:barDir val="col"/>
        <c:grouping val="clustered"/>
        <c:ser>
          <c:idx val="0"/>
          <c:order val="0"/>
          <c:tx>
            <c:strRef>
              <c:f>Sheet1!$B$1</c:f>
              <c:strCache>
                <c:ptCount val="1"/>
                <c:pt idx="0">
                  <c:v>Accuracy (%)</c:v>
                </c:pt>
              </c:strCache>
            </c:strRef>
          </c:tx>
          <c:spPr>
            <a:solidFill>
              <a:srgbClr val="0F766E"/>
            </a:solidFill>
          </c:spPr>
          <c:cat>
            <c:strRef>
              <c:f>Sheet1!$A$2:$A$6</c:f>
              <c:strCache>
                <c:ptCount val="5"/>
                <c:pt idx="0">
                  <c:v>B1 context only</c:v>
                </c:pt>
                <c:pt idx="1">
                  <c:v>B3 latest</c:v>
                </c:pt>
                <c:pt idx="2">
                  <c:v>B4 policy-aware</c:v>
                </c:pt>
                <c:pt idx="3">
                  <c:v>B4W + withdrawal</c:v>
                </c:pt>
                <c:pt idx="4">
                  <c:v>P reference</c:v>
                </c:pt>
              </c:strCache>
            </c:strRef>
          </c:cat>
          <c:val>
            <c:numRef>
              <c:f>Sheet1!$B$2:$B$6</c:f>
              <c:numCache>
                <c:formatCode>General</c:formatCode>
                <c:ptCount val="5"/>
                <c:pt idx="0">
                  <c:v>42.7</c:v>
                </c:pt>
                <c:pt idx="1">
                  <c:v>57.0</c:v>
                </c:pt>
                <c:pt idx="2">
                  <c:v>85.7</c:v>
                </c:pt>
                <c:pt idx="3">
                  <c:v>100.0</c:v>
                </c:pt>
                <c:pt idx="4">
                  <c:v>100.0</c:v>
                </c:pt>
              </c:numCache>
            </c:numRef>
          </c:val>
        </c:ser>
        <c:dLbls>
          <c:numFmt formatCode="0.0&quot;%&quot;" sourceLinked="0"/>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15.0"/>
          <c:min val="0.0"/>
        </c:scaling>
        <c:delete val="0"/>
        <c:axPos val="l"/>
        <c:majorTickMark val="out"/>
        <c:minorTickMark val="none"/>
        <c:tickLblPos val="nextTo"/>
        <c:txPr>
          <a:bodyPr/>
          <a:lstStyle/>
          <a:p>
            <a:pPr>
              <a:defRPr sz="12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asks a simple question: when a company publishes a financial number and later corrects it, which number should a fact-checking system, or an AI chatbot, treat as true? We will show the problem, what we built so far, our first results, and our plan to publish.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earlier idea was explainable AI for financial fraud detection. When we audited it, we found three problems: the main ideas such as SHAP, LIME and grouped explanations are already well studied; the public credit datasets are static or synthetic, so the time-based claims could not be tested honestly; and several legal claims in the original plan, such as a required four-feature explanation, turned out to be wrong. The new topic keeps the finance domain but uses real public data and has a clear yes/no research question that can be tested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case. SunPower published its annual report in March 2023 saying it earned 56.0 million dollars for stockholders. In October 2023 it filed a notice saying investors should no longer rely on that report. In December 2023 it filed a corrected report saying 42.8 million. Now take the sentence 'SunPower earned 56.0 million in 2022'. Is it true? It depends on what you mean: it is true about the original report, false about the corrected accounts, and on 25 October 2023 nobody could know the right number yet. A fact checker has to know WHICH version the question is about.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vocabulary. The SEC is the US regulator; every listed company must file reports on its public website called EDGAR. A 10-K is the yearly report. A 10-K/A is an amended version. An 8-K with Item 4.02 is the official warning that old statements are wrong. A restatement is the correction itself. XBRL is the machine-readable tagging inside these reports, which is what lets our code read numbers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the system receives four things: the claim sentence, an authority policy that says which version counts, a cutoff date, and a fixed packet of documents. It must answer S, C or U. The same packet is given to every method, so differences come from reasoning, not from better searching.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datasets test whether AI can do financial maths, such as FinQA and TAT-QA, or check claims against one document, such as FinDVer. Recent 2026 systems such as VeriFin and FinGround check numbers against XBRL. But FinGround explicitly picks the most recent filing when numbers conflict, and FinVerBench throws away companies with restatements. No benchmark we found asks the same claim under different versions of the truth. That is our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is done. We audited three earlier research directions and verified 48 references against official records. We built a 30-claim pilot by hand from 11 real SEC filings of five companies. We wrote working Python code that turns the rules into a program, reproduces every hand decision, and automatically builds a much larger dataset from free SEC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 simple rules that each ignore one thing. B1 ignores dates and policies. B3 always takes the newest number before the cutoff, like FinGround's default. B4 respects the policy but ignores warning notices. B4W adds a check for warning notices. P is our full reference resolver. Next we add AI language models to the same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30 hand-checked claims, ignoring time and policy gives only 40 percent. Always taking the latest number gives 73 percent: it fails every 'what did the original report say' question. Adding the policy fixes almost everything; only the SunPower warning-notice case fails. Adding the warning flag reaches 100 percent. Our code reproduces every decision made by hand, which validates the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builder read 1,600 SEC search results from 2019 to 2024 containing the phrase 'should no longer be relied upon', kept official Item 4.02 notices from real operating companies, about 520 companies, and stopped after finding 40 whose annual net income was later corrected, for example Shake Shack, Discover, TransUnion and Lovesac. We checked Shake Shack's notice by hand: it matches. The same pattern appears at scale. Important: these labels are produced by rule P, so P is 100 percent by design. This dataset is for testing AI models, and we will hand-check a sample.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important honest finding: a simple policy-aware rule plus a warning-notice flag already matches our full resolver. So we will not claim a new algorithm. Our contribution is the benchmark itself, the evaluation protocol, and testing whether modern AI models handle these version questions. That is publishable as a dataset and evaluation paper.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run the AI models, which needs only a free key and the scripts we already have. Then we hand-check a sample of the automatic dataset, about 20 companies, using the SEC links in the spreadsheet. Then we write a 4 to 8 page paper. Our target is the FNP 2027 workshop at EACL, deadline 15 December 2026, with Indian Springer and IEEE conferences as backups.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Venues. The best fit is FNP, the Financial Narrative Processing workshop at EACL 2027. It explicitly invites datasets, benchmarks and negative results, and short papers of four pages. Deadline 15 December 2026. Backups: SANKALP 2027, an IEEE conference at IIIT Gwalior, deadline 30 November; and BDA 2027 at NIT Warangal, Springer LNCS, deadline 15 February 2027. Deadlines must be re-checked on the official sites.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honest about limitations: pilot labels are drafts and need a human review; automatic labels come from our rules; claims from one company are related, so we report company-level results; and our builder uses whole-company figures only, so mergers can look like corrections, which is why we filter extreme changes and hand-check a sample.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698480" cy="914400"/>
          </a:xfrm>
          <a:prstGeom prst="rect">
            <a:avLst/>
          </a:prstGeom>
          <a:noFill/>
        </p:spPr>
        <p:txBody>
          <a:bodyPr wrap="square">
            <a:spAutoFit/>
          </a:bodyPr>
          <a:lstStyle/>
          <a:p>
            <a:pPr algn="l">
              <a:spcAft>
                <a:spcPts val="800"/>
              </a:spcAft>
            </a:pPr>
            <a:r>
              <a:rPr sz="4400" b="1">
                <a:solidFill>
                  <a:srgbClr val="FFFFFF"/>
                </a:solidFill>
              </a:rPr>
              <a:t>Which Number Counts?</a:t>
            </a:r>
          </a:p>
        </p:txBody>
      </p:sp>
      <p:sp>
        <p:nvSpPr>
          <p:cNvPr id="4" name="TextBox 3"/>
          <p:cNvSpPr txBox="1"/>
          <p:nvPr/>
        </p:nvSpPr>
        <p:spPr>
          <a:xfrm>
            <a:off x="731520" y="2377440"/>
            <a:ext cx="10698480" cy="914400"/>
          </a:xfrm>
          <a:prstGeom prst="rect">
            <a:avLst/>
          </a:prstGeom>
          <a:noFill/>
        </p:spPr>
        <p:txBody>
          <a:bodyPr wrap="square">
            <a:spAutoFit/>
          </a:bodyPr>
          <a:lstStyle/>
          <a:p>
            <a:pPr algn="l">
              <a:spcAft>
                <a:spcPts val="800"/>
              </a:spcAft>
            </a:pPr>
            <a:r>
              <a:rPr sz="2600" b="0">
                <a:solidFill>
                  <a:srgbClr val="B8E0DA"/>
                </a:solidFill>
              </a:rPr>
              <a:t>Verifying financial claims when companies correct their published reports</a:t>
            </a:r>
          </a:p>
        </p:txBody>
      </p:sp>
      <p:sp>
        <p:nvSpPr>
          <p:cNvPr id="5" name="TextBox 4"/>
          <p:cNvSpPr txBox="1"/>
          <p:nvPr/>
        </p:nvSpPr>
        <p:spPr>
          <a:xfrm>
            <a:off x="731520" y="4023360"/>
            <a:ext cx="10698480" cy="1828800"/>
          </a:xfrm>
          <a:prstGeom prst="rect">
            <a:avLst/>
          </a:prstGeom>
          <a:noFill/>
        </p:spPr>
        <p:txBody>
          <a:bodyPr wrap="square">
            <a:spAutoFit/>
          </a:bodyPr>
          <a:lstStyle/>
          <a:p>
            <a:pPr algn="l">
              <a:spcAft>
                <a:spcPts val="800"/>
              </a:spcAft>
            </a:pPr>
            <a:r>
              <a:rPr sz="2000" b="0">
                <a:solidFill>
                  <a:srgbClr val="FFFFFF"/>
                </a:solidFill>
              </a:rPr>
              <a:t>Midterm review, B.Tech Major Project</a:t>
            </a:r>
          </a:p>
          <a:p>
            <a:pPr algn="l">
              <a:spcAft>
                <a:spcPts val="800"/>
              </a:spcAft>
            </a:pPr>
            <a:r>
              <a:rPr sz="2000" b="0">
                <a:solidFill>
                  <a:srgbClr val="FFFFFF"/>
                </a:solidFill>
              </a:rPr>
              <a:t>Shreya  |  [Your name]</a:t>
            </a:r>
          </a:p>
          <a:p>
            <a:pPr algn="l">
              <a:spcAft>
                <a:spcPts val="800"/>
              </a:spcAft>
            </a:pPr>
            <a:r>
              <a:rPr sz="2000" b="0">
                <a:solidFill>
                  <a:srgbClr val="FFFFFF"/>
                </a:solidFill>
              </a:rPr>
              <a:t>Supervisor: Prof. Rahul Gupta, Department of Information Technology, Delhi Technological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Why we changed from 'Explainable AI for fraud detection'</a:t>
            </a:r>
          </a:p>
        </p:txBody>
      </p:sp>
      <p:sp>
        <p:nvSpPr>
          <p:cNvPr id="4" name="Rounded Rectangle 3"/>
          <p:cNvSpPr/>
          <p:nvPr/>
        </p:nvSpPr>
        <p:spPr>
          <a:xfrm>
            <a:off x="548640" y="1371600"/>
            <a:ext cx="5394960" cy="4846320"/>
          </a:xfrm>
          <a:prstGeom prst="roundRect">
            <a:avLst/>
          </a:prstGeom>
          <a:solidFill>
            <a:srgbClr val="FBEEEC"/>
          </a:solidFill>
          <a:ln>
            <a:solidFill>
              <a:srgbClr val="B42318"/>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2100" b="1">
                <a:solidFill>
                  <a:srgbClr val="B42318"/>
                </a:solidFill>
              </a:rPr>
              <a:t>Old idea: XAI for fraud and credit</a:t>
            </a:r>
          </a:p>
          <a:p>
            <a:pPr algn="l">
              <a:spcAft>
                <a:spcPts val="600"/>
              </a:spcAft>
            </a:pPr>
            <a:r>
              <a:rPr sz="1900">
                <a:solidFill>
                  <a:srgbClr val="1F2A44"/>
                </a:solidFill>
              </a:rPr>
              <a:t>• SHAP, LIME and grouped explanations are already well studied</a:t>
            </a:r>
          </a:p>
          <a:p>
            <a:pPr algn="l">
              <a:spcAft>
                <a:spcPts val="600"/>
              </a:spcAft>
            </a:pPr>
            <a:r>
              <a:rPr sz="1900">
                <a:solidFill>
                  <a:srgbClr val="1F2A44"/>
                </a:solidFill>
              </a:rPr>
              <a:t>• Credit datasets (HELOC, Taiwan) are static and fraud data (BAF) is synthetic, so real 'over time' claims can't be tested</a:t>
            </a:r>
          </a:p>
          <a:p>
            <a:pPr algn="l">
              <a:spcAft>
                <a:spcPts val="600"/>
              </a:spcAft>
            </a:pPr>
            <a:r>
              <a:rPr sz="1900">
                <a:solidFill>
                  <a:srgbClr val="1F2A44"/>
                </a:solidFill>
              </a:rPr>
              <a:t>• Legal claims (e.g. 'law requires 4 reasons') were not supported by the regulation text</a:t>
            </a:r>
          </a:p>
          <a:p>
            <a:pPr algn="l">
              <a:spcAft>
                <a:spcPts val="600"/>
              </a:spcAft>
            </a:pPr>
            <a:r>
              <a:rPr sz="1900">
                <a:solidFill>
                  <a:srgbClr val="1F2A44"/>
                </a:solidFill>
              </a:rPr>
              <a:t>• High risk of being judged 'not novel'</a:t>
            </a:r>
          </a:p>
        </p:txBody>
      </p:sp>
      <p:sp>
        <p:nvSpPr>
          <p:cNvPr id="5" name="Rounded Rectangle 4"/>
          <p:cNvSpPr/>
          <p:nvPr/>
        </p:nvSpPr>
        <p:spPr>
          <a:xfrm>
            <a:off x="6217920" y="1371600"/>
            <a:ext cx="5394960" cy="484632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2100" b="1">
                <a:solidFill>
                  <a:srgbClr val="0F766E"/>
                </a:solidFill>
              </a:rPr>
              <a:t>New idea: version-aware claim verification</a:t>
            </a:r>
          </a:p>
          <a:p>
            <a:pPr algn="l">
              <a:spcAft>
                <a:spcPts val="600"/>
              </a:spcAft>
            </a:pPr>
            <a:r>
              <a:rPr sz="1900">
                <a:solidFill>
                  <a:srgbClr val="1F2A44"/>
                </a:solidFill>
              </a:rPr>
              <a:t>• Same domain (finance + AI), so our earlier reading still helps</a:t>
            </a:r>
          </a:p>
          <a:p>
            <a:pPr algn="l">
              <a:spcAft>
                <a:spcPts val="600"/>
              </a:spcAft>
            </a:pPr>
            <a:r>
              <a:rPr sz="1900">
                <a:solidFill>
                  <a:srgbClr val="1F2A44"/>
                </a:solidFill>
              </a:rPr>
              <a:t>• Uses real, free, public data: US SEC filings</a:t>
            </a:r>
          </a:p>
          <a:p>
            <a:pPr algn="l">
              <a:spcAft>
                <a:spcPts val="600"/>
              </a:spcAft>
            </a:pPr>
            <a:r>
              <a:rPr sz="1900">
                <a:solidFill>
                  <a:srgbClr val="1F2A44"/>
                </a:solidFill>
              </a:rPr>
              <a:t>• One clear, testable question with a measurable answer</a:t>
            </a:r>
          </a:p>
          <a:p>
            <a:pPr algn="l">
              <a:spcAft>
                <a:spcPts val="600"/>
              </a:spcAft>
            </a:pPr>
            <a:r>
              <a:rPr sz="1900">
                <a:solidFill>
                  <a:srgbClr val="1F2A44"/>
                </a:solidFill>
              </a:rPr>
              <a:t>• No GPU and no paid data needed</a:t>
            </a:r>
          </a:p>
          <a:p>
            <a:pPr algn="l">
              <a:spcAft>
                <a:spcPts val="600"/>
              </a:spcAft>
            </a:pPr>
            <a:r>
              <a:rPr sz="1900">
                <a:solidFill>
                  <a:srgbClr val="1F2A44"/>
                </a:solidFill>
              </a:rPr>
              <a:t>• A known gap: even recent systems simply take the latest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The problem in one real example: SunPower, fiscal 2022</a:t>
            </a:r>
          </a:p>
        </p:txBody>
      </p:sp>
      <p:sp>
        <p:nvSpPr>
          <p:cNvPr id="4" name="Rounded Rectangle 3"/>
          <p:cNvSpPr/>
          <p:nvPr/>
        </p:nvSpPr>
        <p:spPr>
          <a:xfrm>
            <a:off x="548640" y="1371600"/>
            <a:ext cx="3566160" cy="182880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800" b="1">
                <a:solidFill>
                  <a:srgbClr val="0F766E"/>
                </a:solidFill>
              </a:rPr>
              <a:t>10 Mar 2023</a:t>
            </a:r>
          </a:p>
          <a:p>
            <a:pPr algn="l">
              <a:spcAft>
                <a:spcPts val="600"/>
              </a:spcAft>
            </a:pPr>
            <a:r>
              <a:rPr sz="1600">
                <a:solidFill>
                  <a:srgbClr val="1F2A44"/>
                </a:solidFill>
              </a:rPr>
              <a:t>Annual report (10-K)</a:t>
            </a:r>
          </a:p>
          <a:p>
            <a:pPr algn="l">
              <a:spcAft>
                <a:spcPts val="600"/>
              </a:spcAft>
            </a:pPr>
            <a:r>
              <a:rPr sz="1600">
                <a:solidFill>
                  <a:srgbClr val="1F2A44"/>
                </a:solidFill>
              </a:rPr>
              <a:t>Net income: $56.037 M</a:t>
            </a:r>
          </a:p>
        </p:txBody>
      </p:sp>
      <p:sp>
        <p:nvSpPr>
          <p:cNvPr id="5" name="Rounded Rectangle 4"/>
          <p:cNvSpPr/>
          <p:nvPr/>
        </p:nvSpPr>
        <p:spPr>
          <a:xfrm>
            <a:off x="4389120" y="1371600"/>
            <a:ext cx="3566160" cy="182880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800" b="1">
                <a:solidFill>
                  <a:srgbClr val="0F766E"/>
                </a:solidFill>
              </a:rPr>
              <a:t>24 Oct 2023</a:t>
            </a:r>
          </a:p>
          <a:p>
            <a:pPr algn="l">
              <a:spcAft>
                <a:spcPts val="600"/>
              </a:spcAft>
            </a:pPr>
            <a:r>
              <a:rPr sz="1600">
                <a:solidFill>
                  <a:srgbClr val="1F2A44"/>
                </a:solidFill>
              </a:rPr>
              <a:t>Warning notice (8-K Item 4.02)</a:t>
            </a:r>
          </a:p>
          <a:p>
            <a:pPr algn="l">
              <a:spcAft>
                <a:spcPts val="600"/>
              </a:spcAft>
            </a:pPr>
            <a:r>
              <a:rPr sz="1600">
                <a:solidFill>
                  <a:srgbClr val="1F2A44"/>
                </a:solidFill>
              </a:rPr>
              <a:t>'Should no longer be relied upon'</a:t>
            </a:r>
          </a:p>
        </p:txBody>
      </p:sp>
      <p:sp>
        <p:nvSpPr>
          <p:cNvPr id="6" name="Rounded Rectangle 5"/>
          <p:cNvSpPr/>
          <p:nvPr/>
        </p:nvSpPr>
        <p:spPr>
          <a:xfrm>
            <a:off x="8229600" y="1371600"/>
            <a:ext cx="3566160" cy="182880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800" b="1">
                <a:solidFill>
                  <a:srgbClr val="0F766E"/>
                </a:solidFill>
              </a:rPr>
              <a:t>18 Dec 2023</a:t>
            </a:r>
          </a:p>
          <a:p>
            <a:pPr algn="l">
              <a:spcAft>
                <a:spcPts val="600"/>
              </a:spcAft>
            </a:pPr>
            <a:r>
              <a:rPr sz="1600">
                <a:solidFill>
                  <a:srgbClr val="1F2A44"/>
                </a:solidFill>
              </a:rPr>
              <a:t>Corrected report (10-K/A)</a:t>
            </a:r>
          </a:p>
          <a:p>
            <a:pPr algn="l">
              <a:spcAft>
                <a:spcPts val="600"/>
              </a:spcAft>
            </a:pPr>
            <a:r>
              <a:rPr sz="1600">
                <a:solidFill>
                  <a:srgbClr val="1F2A44"/>
                </a:solidFill>
              </a:rPr>
              <a:t>Net income: $42.849 M</a:t>
            </a:r>
          </a:p>
        </p:txBody>
      </p:sp>
      <p:sp>
        <p:nvSpPr>
          <p:cNvPr id="7" name="TextBox 6"/>
          <p:cNvSpPr txBox="1"/>
          <p:nvPr/>
        </p:nvSpPr>
        <p:spPr>
          <a:xfrm>
            <a:off x="548640" y="3474720"/>
            <a:ext cx="10972800" cy="548640"/>
          </a:xfrm>
          <a:prstGeom prst="rect">
            <a:avLst/>
          </a:prstGeom>
          <a:noFill/>
        </p:spPr>
        <p:txBody>
          <a:bodyPr wrap="square">
            <a:spAutoFit/>
          </a:bodyPr>
          <a:lstStyle/>
          <a:p>
            <a:pPr algn="l">
              <a:spcAft>
                <a:spcPts val="800"/>
              </a:spcAft>
            </a:pPr>
            <a:r>
              <a:rPr sz="2000" b="1">
                <a:solidFill>
                  <a:srgbClr val="1F2A44"/>
                </a:solidFill>
              </a:rPr>
              <a:t>Claim: "SunPower earned $56.037 M for stockholders in fiscal 2022."  Is it true?</a:t>
            </a:r>
          </a:p>
        </p:txBody>
      </p:sp>
      <p:graphicFrame>
        <p:nvGraphicFramePr>
          <p:cNvPr id="8" name="Table 7"/>
          <p:cNvGraphicFramePr>
            <a:graphicFrameLocks noGrp="1"/>
          </p:cNvGraphicFramePr>
          <p:nvPr/>
        </p:nvGraphicFramePr>
        <p:xfrm>
          <a:off x="548640" y="4023360"/>
          <a:ext cx="11064240" cy="1645920"/>
        </p:xfrm>
        <a:graphic>
          <a:graphicData uri="http://schemas.openxmlformats.org/drawingml/2006/table">
            <a:tbl>
              <a:tblPr firstRow="1" bandRow="1">
                <a:tableStyleId>{5C22544A-7EE6-4342-B048-85BDC9FD1C3A}</a:tableStyleId>
              </a:tblPr>
              <a:tblGrid>
                <a:gridCol w="6400800"/>
                <a:gridCol w="4663440"/>
              </a:tblGrid>
              <a:tr h="411480">
                <a:tc>
                  <a:txBody>
                    <a:bodyPr/>
                    <a:lstStyle/>
                    <a:p>
                      <a:r>
                        <a:rPr sz="1600" b="1">
                          <a:solidFill>
                            <a:srgbClr val="FFFFFF"/>
                          </a:solidFill>
                        </a:rPr>
                        <a:t>The question really means…</a:t>
                      </a:r>
                    </a:p>
                  </a:txBody>
                  <a:tcPr>
                    <a:solidFill>
                      <a:srgbClr val="0F766E"/>
                    </a:solidFill>
                  </a:tcPr>
                </a:tc>
                <a:tc>
                  <a:txBody>
                    <a:bodyPr/>
                    <a:lstStyle/>
                    <a:p>
                      <a:r>
                        <a:rPr sz="1600" b="1">
                          <a:solidFill>
                            <a:srgbClr val="FFFFFF"/>
                          </a:solidFill>
                        </a:rPr>
                        <a:t>Correct answer</a:t>
                      </a:r>
                    </a:p>
                  </a:txBody>
                  <a:tcPr>
                    <a:solidFill>
                      <a:srgbClr val="0F766E"/>
                    </a:solidFill>
                  </a:tcPr>
                </a:tc>
              </a:tr>
              <a:tr h="411480">
                <a:tc>
                  <a:txBody>
                    <a:bodyPr/>
                    <a:lstStyle/>
                    <a:p>
                      <a:r>
                        <a:rPr sz="1600" b="0">
                          <a:solidFill>
                            <a:srgbClr val="1F2A44"/>
                          </a:solidFill>
                        </a:rPr>
                        <a:t>What did the ORIGINAL report say?</a:t>
                      </a:r>
                    </a:p>
                  </a:txBody>
                  <a:tcPr>
                    <a:solidFill>
                      <a:srgbClr val="EEF4F3"/>
                    </a:solidFill>
                  </a:tcPr>
                </a:tc>
                <a:tc>
                  <a:txBody>
                    <a:bodyPr/>
                    <a:lstStyle/>
                    <a:p>
                      <a:r>
                        <a:rPr sz="1600" b="0">
                          <a:solidFill>
                            <a:srgbClr val="1F2A44"/>
                          </a:solidFill>
                        </a:rPr>
                        <a:t>S: supported</a:t>
                      </a:r>
                    </a:p>
                  </a:txBody>
                  <a:tcPr>
                    <a:solidFill>
                      <a:srgbClr val="EEF4F3"/>
                    </a:solidFill>
                  </a:tcPr>
                </a:tc>
              </a:tr>
              <a:tr h="411480">
                <a:tc>
                  <a:txBody>
                    <a:bodyPr/>
                    <a:lstStyle/>
                    <a:p>
                      <a:r>
                        <a:rPr sz="1600" b="0">
                          <a:solidFill>
                            <a:srgbClr val="1F2A44"/>
                          </a:solidFill>
                        </a:rPr>
                        <a:t>What do the CORRECTED accounts say?</a:t>
                      </a:r>
                    </a:p>
                  </a:txBody>
                  <a:tcPr>
                    <a:solidFill>
                      <a:srgbClr val="FFFFFF"/>
                    </a:solidFill>
                  </a:tcPr>
                </a:tc>
                <a:tc>
                  <a:txBody>
                    <a:bodyPr/>
                    <a:lstStyle/>
                    <a:p>
                      <a:r>
                        <a:rPr sz="1600" b="0">
                          <a:solidFill>
                            <a:srgbClr val="1F2A44"/>
                          </a:solidFill>
                        </a:rPr>
                        <a:t>C: contradicted</a:t>
                      </a:r>
                    </a:p>
                  </a:txBody>
                  <a:tcPr>
                    <a:solidFill>
                      <a:srgbClr val="FFFFFF"/>
                    </a:solidFill>
                  </a:tcPr>
                </a:tc>
              </a:tr>
              <a:tr h="411480">
                <a:tc>
                  <a:txBody>
                    <a:bodyPr/>
                    <a:lstStyle/>
                    <a:p>
                      <a:r>
                        <a:rPr sz="1600" b="0">
                          <a:solidFill>
                            <a:srgbClr val="1F2A44"/>
                          </a:solidFill>
                        </a:rPr>
                        <a:t>What was reliably known on 25 Oct 2023?</a:t>
                      </a:r>
                    </a:p>
                  </a:txBody>
                  <a:tcPr>
                    <a:solidFill>
                      <a:srgbClr val="EEF4F3"/>
                    </a:solidFill>
                  </a:tcPr>
                </a:tc>
                <a:tc>
                  <a:txBody>
                    <a:bodyPr/>
                    <a:lstStyle/>
                    <a:p>
                      <a:r>
                        <a:rPr sz="1600" b="0">
                          <a:solidFill>
                            <a:srgbClr val="1F2A44"/>
                          </a:solidFill>
                        </a:rPr>
                        <a:t>U: undetermined (withdrawn, no replacement yet)</a:t>
                      </a:r>
                    </a:p>
                  </a:txBody>
                  <a:tcPr>
                    <a:solidFill>
                      <a:srgbClr val="EEF4F3"/>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Five terms you need (no finance background assumed)</a:t>
            </a:r>
          </a:p>
        </p:txBody>
      </p:sp>
      <p:graphicFrame>
        <p:nvGraphicFramePr>
          <p:cNvPr id="4" name="Table 3"/>
          <p:cNvGraphicFramePr>
            <a:graphicFrameLocks noGrp="1"/>
          </p:cNvGraphicFramePr>
          <p:nvPr/>
        </p:nvGraphicFramePr>
        <p:xfrm>
          <a:off x="548640" y="1371600"/>
          <a:ext cx="11064240" cy="3968496"/>
        </p:xfrm>
        <a:graphic>
          <a:graphicData uri="http://schemas.openxmlformats.org/drawingml/2006/table">
            <a:tbl>
              <a:tblPr firstRow="1" bandRow="1">
                <a:tableStyleId>{5C22544A-7EE6-4342-B048-85BDC9FD1C3A}</a:tableStyleId>
              </a:tblPr>
              <a:tblGrid>
                <a:gridCol w="2743200"/>
                <a:gridCol w="8321040"/>
              </a:tblGrid>
              <a:tr h="566928">
                <a:tc>
                  <a:txBody>
                    <a:bodyPr/>
                    <a:lstStyle/>
                    <a:p>
                      <a:r>
                        <a:rPr sz="1700" b="1">
                          <a:solidFill>
                            <a:srgbClr val="FFFFFF"/>
                          </a:solidFill>
                        </a:rPr>
                        <a:t>Term</a:t>
                      </a:r>
                    </a:p>
                  </a:txBody>
                  <a:tcPr>
                    <a:solidFill>
                      <a:srgbClr val="0F766E"/>
                    </a:solidFill>
                  </a:tcPr>
                </a:tc>
                <a:tc>
                  <a:txBody>
                    <a:bodyPr/>
                    <a:lstStyle/>
                    <a:p>
                      <a:r>
                        <a:rPr sz="1700" b="1">
                          <a:solidFill>
                            <a:srgbClr val="FFFFFF"/>
                          </a:solidFill>
                        </a:rPr>
                        <a:t>Plain meaning</a:t>
                      </a:r>
                    </a:p>
                  </a:txBody>
                  <a:tcPr>
                    <a:solidFill>
                      <a:srgbClr val="0F766E"/>
                    </a:solidFill>
                  </a:tcPr>
                </a:tc>
              </a:tr>
              <a:tr h="566928">
                <a:tc>
                  <a:txBody>
                    <a:bodyPr/>
                    <a:lstStyle/>
                    <a:p>
                      <a:r>
                        <a:rPr sz="1700" b="0">
                          <a:solidFill>
                            <a:srgbClr val="1F2A44"/>
                          </a:solidFill>
                        </a:rPr>
                        <a:t>SEC / EDGAR</a:t>
                      </a:r>
                    </a:p>
                  </a:txBody>
                  <a:tcPr>
                    <a:solidFill>
                      <a:srgbClr val="EEF4F3"/>
                    </a:solidFill>
                  </a:tcPr>
                </a:tc>
                <a:tc>
                  <a:txBody>
                    <a:bodyPr/>
                    <a:lstStyle/>
                    <a:p>
                      <a:r>
                        <a:rPr sz="1700" b="0">
                          <a:solidFill>
                            <a:srgbClr val="1F2A44"/>
                          </a:solidFill>
                        </a:rPr>
                        <a:t>US market regulator and its free public website of company filings</a:t>
                      </a:r>
                    </a:p>
                  </a:txBody>
                  <a:tcPr>
                    <a:solidFill>
                      <a:srgbClr val="EEF4F3"/>
                    </a:solidFill>
                  </a:tcPr>
                </a:tc>
              </a:tr>
              <a:tr h="566928">
                <a:tc>
                  <a:txBody>
                    <a:bodyPr/>
                    <a:lstStyle/>
                    <a:p>
                      <a:r>
                        <a:rPr sz="1700" b="0">
                          <a:solidFill>
                            <a:srgbClr val="1F2A44"/>
                          </a:solidFill>
                        </a:rPr>
                        <a:t>10-K</a:t>
                      </a:r>
                    </a:p>
                  </a:txBody>
                  <a:tcPr>
                    <a:solidFill>
                      <a:srgbClr val="FFFFFF"/>
                    </a:solidFill>
                  </a:tcPr>
                </a:tc>
                <a:tc>
                  <a:txBody>
                    <a:bodyPr/>
                    <a:lstStyle/>
                    <a:p>
                      <a:r>
                        <a:rPr sz="1700" b="0">
                          <a:solidFill>
                            <a:srgbClr val="1F2A44"/>
                          </a:solidFill>
                        </a:rPr>
                        <a:t>A company's official yearly financial report (audited)</a:t>
                      </a:r>
                    </a:p>
                  </a:txBody>
                  <a:tcPr>
                    <a:solidFill>
                      <a:srgbClr val="FFFFFF"/>
                    </a:solidFill>
                  </a:tcPr>
                </a:tc>
              </a:tr>
              <a:tr h="566928">
                <a:tc>
                  <a:txBody>
                    <a:bodyPr/>
                    <a:lstStyle/>
                    <a:p>
                      <a:r>
                        <a:rPr sz="1700" b="0">
                          <a:solidFill>
                            <a:srgbClr val="1F2A44"/>
                          </a:solidFill>
                        </a:rPr>
                        <a:t>10-K/A</a:t>
                      </a:r>
                    </a:p>
                  </a:txBody>
                  <a:tcPr>
                    <a:solidFill>
                      <a:srgbClr val="EEF4F3"/>
                    </a:solidFill>
                  </a:tcPr>
                </a:tc>
                <a:tc>
                  <a:txBody>
                    <a:bodyPr/>
                    <a:lstStyle/>
                    <a:p>
                      <a:r>
                        <a:rPr sz="1700" b="0">
                          <a:solidFill>
                            <a:srgbClr val="1F2A44"/>
                          </a:solidFill>
                        </a:rPr>
                        <a:t>An amended (corrected) version of a 10-K</a:t>
                      </a:r>
                    </a:p>
                  </a:txBody>
                  <a:tcPr>
                    <a:solidFill>
                      <a:srgbClr val="EEF4F3"/>
                    </a:solidFill>
                  </a:tcPr>
                </a:tc>
              </a:tr>
              <a:tr h="566928">
                <a:tc>
                  <a:txBody>
                    <a:bodyPr/>
                    <a:lstStyle/>
                    <a:p>
                      <a:r>
                        <a:rPr sz="1700" b="0">
                          <a:solidFill>
                            <a:srgbClr val="1F2A44"/>
                          </a:solidFill>
                        </a:rPr>
                        <a:t>8-K Item 4.02</a:t>
                      </a:r>
                    </a:p>
                  </a:txBody>
                  <a:tcPr>
                    <a:solidFill>
                      <a:srgbClr val="FFFFFF"/>
                    </a:solidFill>
                  </a:tcPr>
                </a:tc>
                <a:tc>
                  <a:txBody>
                    <a:bodyPr/>
                    <a:lstStyle/>
                    <a:p>
                      <a:r>
                        <a:rPr sz="1700" b="0">
                          <a:solidFill>
                            <a:srgbClr val="1F2A44"/>
                          </a:solidFill>
                        </a:rPr>
                        <a:t>Official notice: 'our earlier statements should no longer be relied upon'</a:t>
                      </a:r>
                    </a:p>
                  </a:txBody>
                  <a:tcPr>
                    <a:solidFill>
                      <a:srgbClr val="FFFFFF"/>
                    </a:solidFill>
                  </a:tcPr>
                </a:tc>
              </a:tr>
              <a:tr h="566928">
                <a:tc>
                  <a:txBody>
                    <a:bodyPr/>
                    <a:lstStyle/>
                    <a:p>
                      <a:r>
                        <a:rPr sz="1700" b="0">
                          <a:solidFill>
                            <a:srgbClr val="1F2A44"/>
                          </a:solidFill>
                        </a:rPr>
                        <a:t>Restatement</a:t>
                      </a:r>
                    </a:p>
                  </a:txBody>
                  <a:tcPr>
                    <a:solidFill>
                      <a:srgbClr val="EEF4F3"/>
                    </a:solidFill>
                  </a:tcPr>
                </a:tc>
                <a:tc>
                  <a:txBody>
                    <a:bodyPr/>
                    <a:lstStyle/>
                    <a:p>
                      <a:r>
                        <a:rPr sz="1700" b="0">
                          <a:solidFill>
                            <a:srgbClr val="1F2A44"/>
                          </a:solidFill>
                        </a:rPr>
                        <a:t>Re-publishing old numbers after finding an error</a:t>
                      </a:r>
                    </a:p>
                  </a:txBody>
                  <a:tcPr>
                    <a:solidFill>
                      <a:srgbClr val="EEF4F3"/>
                    </a:solidFill>
                  </a:tcPr>
                </a:tc>
              </a:tr>
              <a:tr h="566928">
                <a:tc>
                  <a:txBody>
                    <a:bodyPr/>
                    <a:lstStyle/>
                    <a:p>
                      <a:r>
                        <a:rPr sz="1700" b="0">
                          <a:solidFill>
                            <a:srgbClr val="1F2A44"/>
                          </a:solidFill>
                        </a:rPr>
                        <a:t>XBRL</a:t>
                      </a:r>
                    </a:p>
                  </a:txBody>
                  <a:tcPr>
                    <a:solidFill>
                      <a:srgbClr val="FFFFFF"/>
                    </a:solidFill>
                  </a:tcPr>
                </a:tc>
                <a:tc>
                  <a:txBody>
                    <a:bodyPr/>
                    <a:lstStyle/>
                    <a:p>
                      <a:r>
                        <a:rPr sz="1700" b="0">
                          <a:solidFill>
                            <a:srgbClr val="1F2A44"/>
                          </a:solidFill>
                        </a:rPr>
                        <a:t>Machine-readable tags on each number (concept, period, unit), so code can read filings</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Our task, precisely</a:t>
            </a:r>
          </a:p>
        </p:txBody>
      </p:sp>
      <p:sp>
        <p:nvSpPr>
          <p:cNvPr id="4" name="Rounded Rectangle 3"/>
          <p:cNvSpPr/>
          <p:nvPr/>
        </p:nvSpPr>
        <p:spPr>
          <a:xfrm>
            <a:off x="548640" y="1371600"/>
            <a:ext cx="5120640" cy="475488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800" b="1">
                <a:solidFill>
                  <a:srgbClr val="0F766E"/>
                </a:solidFill>
              </a:rPr>
              <a:t>Input</a:t>
            </a:r>
          </a:p>
          <a:p>
            <a:pPr algn="l">
              <a:spcAft>
                <a:spcPts val="600"/>
              </a:spcAft>
            </a:pPr>
            <a:r>
              <a:rPr sz="1600">
                <a:solidFill>
                  <a:srgbClr val="1F2A44"/>
                </a:solidFill>
              </a:rPr>
              <a:t>1. Claim: 'Company X earned $Y M in year Z'</a:t>
            </a:r>
          </a:p>
          <a:p>
            <a:pPr algn="l">
              <a:spcAft>
                <a:spcPts val="600"/>
              </a:spcAft>
            </a:pPr>
            <a:r>
              <a:rPr sz="1600">
                <a:solidFill>
                  <a:srgbClr val="1F2A44"/>
                </a:solidFill>
              </a:rPr>
              <a:t>2. Authority policy: original / corrected / as-known-at-cutoff / unspecified</a:t>
            </a:r>
          </a:p>
          <a:p>
            <a:pPr algn="l">
              <a:spcAft>
                <a:spcPts val="600"/>
              </a:spcAft>
            </a:pPr>
            <a:r>
              <a:rPr sz="1600">
                <a:solidFill>
                  <a:srgbClr val="1F2A44"/>
                </a:solidFill>
              </a:rPr>
              <a:t>3. Cutoff date: documents filed on or after it don't count</a:t>
            </a:r>
          </a:p>
          <a:p>
            <a:pPr algn="l">
              <a:spcAft>
                <a:spcPts val="600"/>
              </a:spcAft>
            </a:pPr>
            <a:r>
              <a:rPr sz="1600">
                <a:solidFill>
                  <a:srgbClr val="1F2A44"/>
                </a:solidFill>
              </a:rPr>
              <a:t>4. Evidence packet: the same filings for every method</a:t>
            </a:r>
          </a:p>
        </p:txBody>
      </p:sp>
      <p:sp>
        <p:nvSpPr>
          <p:cNvPr id="5" name="Rounded Rectangle 4"/>
          <p:cNvSpPr/>
          <p:nvPr/>
        </p:nvSpPr>
        <p:spPr>
          <a:xfrm>
            <a:off x="6035040" y="1371600"/>
            <a:ext cx="5577840" cy="475488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800" b="1">
                <a:solidFill>
                  <a:srgbClr val="0F766E"/>
                </a:solidFill>
              </a:rPr>
              <a:t>Output: one label</a:t>
            </a:r>
          </a:p>
          <a:p>
            <a:pPr algn="l">
              <a:spcAft>
                <a:spcPts val="600"/>
              </a:spcAft>
            </a:pPr>
            <a:r>
              <a:rPr sz="1600">
                <a:solidFill>
                  <a:srgbClr val="1F2A44"/>
                </a:solidFill>
              </a:rPr>
              <a:t>S = Supported by the figure the policy selects</a:t>
            </a:r>
          </a:p>
          <a:p>
            <a:pPr algn="l">
              <a:spcAft>
                <a:spcPts val="600"/>
              </a:spcAft>
            </a:pPr>
            <a:r>
              <a:rPr sz="1600">
                <a:solidFill>
                  <a:srgbClr val="1F2A44"/>
                </a:solidFill>
              </a:rPr>
              <a:t>C = Contradicted (figure is clearly different)</a:t>
            </a:r>
          </a:p>
          <a:p>
            <a:pPr algn="l">
              <a:spcAft>
                <a:spcPts val="600"/>
              </a:spcAft>
            </a:pPr>
            <a:r>
              <a:rPr sz="1600">
                <a:solidFill>
                  <a:srgbClr val="1F2A44"/>
                </a:solidFill>
              </a:rPr>
              <a:t>U = Undetermined (ambiguous, withdrawn, or rounding prevents a decision)</a:t>
            </a:r>
          </a:p>
          <a:p>
            <a:pPr algn="l">
              <a:spcAft>
                <a:spcPts val="600"/>
              </a:spcAft>
            </a:pPr>
          </a:p>
          <a:p>
            <a:pPr algn="l">
              <a:spcAft>
                <a:spcPts val="600"/>
              </a:spcAft>
            </a:pPr>
            <a:r>
              <a:rPr sz="1600">
                <a:solidFill>
                  <a:srgbClr val="1F2A44"/>
                </a:solidFill>
              </a:rPr>
              <a:t>Rounding rule: '$56.037 M' means anything in [56.0365, 56.0375]</a:t>
            </a:r>
          </a:p>
          <a:p>
            <a:pPr algn="l">
              <a:spcAft>
                <a:spcPts val="600"/>
              </a:spcAft>
            </a:pPr>
            <a:r>
              <a:rPr sz="1600">
                <a:solidFill>
                  <a:srgbClr val="1F2A44"/>
                </a:solidFill>
              </a:rPr>
              <a:t>Errors are counted per company, not just per claim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What already exists, and the gap</a:t>
            </a:r>
          </a:p>
        </p:txBody>
      </p:sp>
      <p:graphicFrame>
        <p:nvGraphicFramePr>
          <p:cNvPr id="4" name="Table 3"/>
          <p:cNvGraphicFramePr>
            <a:graphicFrameLocks noGrp="1"/>
          </p:cNvGraphicFramePr>
          <p:nvPr/>
        </p:nvGraphicFramePr>
        <p:xfrm>
          <a:off x="548640" y="1280160"/>
          <a:ext cx="11064239" cy="4535424"/>
        </p:xfrm>
        <a:graphic>
          <a:graphicData uri="http://schemas.openxmlformats.org/drawingml/2006/table">
            <a:tbl>
              <a:tblPr firstRow="1" bandRow="1">
                <a:tableStyleId>{5C22544A-7EE6-4342-B048-85BDC9FD1C3A}</a:tableStyleId>
              </a:tblPr>
              <a:tblGrid>
                <a:gridCol w="2926080"/>
                <a:gridCol w="4389120"/>
                <a:gridCol w="3749039"/>
              </a:tblGrid>
              <a:tr h="566928">
                <a:tc>
                  <a:txBody>
                    <a:bodyPr/>
                    <a:lstStyle/>
                    <a:p>
                      <a:r>
                        <a:rPr sz="1400" b="1">
                          <a:solidFill>
                            <a:srgbClr val="FFFFFF"/>
                          </a:solidFill>
                        </a:rPr>
                        <a:t>Work (year)</a:t>
                      </a:r>
                    </a:p>
                  </a:txBody>
                  <a:tcPr>
                    <a:solidFill>
                      <a:srgbClr val="0F766E"/>
                    </a:solidFill>
                  </a:tcPr>
                </a:tc>
                <a:tc>
                  <a:txBody>
                    <a:bodyPr/>
                    <a:lstStyle/>
                    <a:p>
                      <a:r>
                        <a:rPr sz="1400" b="1">
                          <a:solidFill>
                            <a:srgbClr val="FFFFFF"/>
                          </a:solidFill>
                        </a:rPr>
                        <a:t>What it does</a:t>
                      </a:r>
                    </a:p>
                  </a:txBody>
                  <a:tcPr>
                    <a:solidFill>
                      <a:srgbClr val="0F766E"/>
                    </a:solidFill>
                  </a:tcPr>
                </a:tc>
                <a:tc>
                  <a:txBody>
                    <a:bodyPr/>
                    <a:lstStyle/>
                    <a:p>
                      <a:r>
                        <a:rPr sz="1400" b="1">
                          <a:solidFill>
                            <a:srgbClr val="FFFFFF"/>
                          </a:solidFill>
                        </a:rPr>
                        <a:t>What it misses for us</a:t>
                      </a:r>
                    </a:p>
                  </a:txBody>
                  <a:tcPr>
                    <a:solidFill>
                      <a:srgbClr val="0F766E"/>
                    </a:solidFill>
                  </a:tcPr>
                </a:tc>
              </a:tr>
              <a:tr h="566928">
                <a:tc>
                  <a:txBody>
                    <a:bodyPr/>
                    <a:lstStyle/>
                    <a:p>
                      <a:r>
                        <a:rPr sz="1400" b="0">
                          <a:solidFill>
                            <a:srgbClr val="1F2A44"/>
                          </a:solidFill>
                        </a:rPr>
                        <a:t>FinQA, TAT-QA (2021)</a:t>
                      </a:r>
                    </a:p>
                  </a:txBody>
                  <a:tcPr>
                    <a:solidFill>
                      <a:srgbClr val="EEF4F3"/>
                    </a:solidFill>
                  </a:tcPr>
                </a:tc>
                <a:tc>
                  <a:txBody>
                    <a:bodyPr/>
                    <a:lstStyle/>
                    <a:p>
                      <a:r>
                        <a:rPr sz="1400" b="0">
                          <a:solidFill>
                            <a:srgbClr val="1F2A44"/>
                          </a:solidFill>
                        </a:rPr>
                        <a:t>Numerical questions on financial reports</a:t>
                      </a:r>
                    </a:p>
                  </a:txBody>
                  <a:tcPr>
                    <a:solidFill>
                      <a:srgbClr val="EEF4F3"/>
                    </a:solidFill>
                  </a:tcPr>
                </a:tc>
                <a:tc>
                  <a:txBody>
                    <a:bodyPr/>
                    <a:lstStyle/>
                    <a:p>
                      <a:r>
                        <a:rPr sz="1400" b="0">
                          <a:solidFill>
                            <a:srgbClr val="1F2A44"/>
                          </a:solidFill>
                        </a:rPr>
                        <a:t>Assume one correct document</a:t>
                      </a:r>
                    </a:p>
                  </a:txBody>
                  <a:tcPr>
                    <a:solidFill>
                      <a:srgbClr val="EEF4F3"/>
                    </a:solidFill>
                  </a:tcPr>
                </a:tc>
              </a:tr>
              <a:tr h="566928">
                <a:tc>
                  <a:txBody>
                    <a:bodyPr/>
                    <a:lstStyle/>
                    <a:p>
                      <a:r>
                        <a:rPr sz="1400" b="0">
                          <a:solidFill>
                            <a:srgbClr val="1F2A44"/>
                          </a:solidFill>
                        </a:rPr>
                        <a:t>FinDVer (EMNLP 2024)</a:t>
                      </a:r>
                    </a:p>
                  </a:txBody>
                  <a:tcPr>
                    <a:solidFill>
                      <a:srgbClr val="FFFFFF"/>
                    </a:solidFill>
                  </a:tcPr>
                </a:tc>
                <a:tc>
                  <a:txBody>
                    <a:bodyPr/>
                    <a:lstStyle/>
                    <a:p>
                      <a:r>
                        <a:rPr sz="1400" b="0">
                          <a:solidFill>
                            <a:srgbClr val="1F2A44"/>
                          </a:solidFill>
                        </a:rPr>
                        <a:t>Verify claims against a long financial document</a:t>
                      </a:r>
                    </a:p>
                  </a:txBody>
                  <a:tcPr>
                    <a:solidFill>
                      <a:srgbClr val="FFFFFF"/>
                    </a:solidFill>
                  </a:tcPr>
                </a:tc>
                <a:tc>
                  <a:txBody>
                    <a:bodyPr/>
                    <a:lstStyle/>
                    <a:p>
                      <a:r>
                        <a:rPr sz="1400" b="0">
                          <a:solidFill>
                            <a:srgbClr val="1F2A44"/>
                          </a:solidFill>
                        </a:rPr>
                        <a:t>Single document, no versions</a:t>
                      </a:r>
                    </a:p>
                  </a:txBody>
                  <a:tcPr>
                    <a:solidFill>
                      <a:srgbClr val="FFFFFF"/>
                    </a:solidFill>
                  </a:tcPr>
                </a:tc>
              </a:tr>
              <a:tr h="566928">
                <a:tc>
                  <a:txBody>
                    <a:bodyPr/>
                    <a:lstStyle/>
                    <a:p>
                      <a:r>
                        <a:rPr sz="1400" b="0">
                          <a:solidFill>
                            <a:srgbClr val="1F2A44"/>
                          </a:solidFill>
                        </a:rPr>
                        <a:t>VeriFin (2026)</a:t>
                      </a:r>
                    </a:p>
                  </a:txBody>
                  <a:tcPr>
                    <a:solidFill>
                      <a:srgbClr val="EEF4F3"/>
                    </a:solidFill>
                  </a:tcPr>
                </a:tc>
                <a:tc>
                  <a:txBody>
                    <a:bodyPr/>
                    <a:lstStyle/>
                    <a:p>
                      <a:r>
                        <a:rPr sz="1400" b="0">
                          <a:solidFill>
                            <a:srgbClr val="1F2A44"/>
                          </a:solidFill>
                        </a:rPr>
                        <a:t>Checks LLM financial claims against XBRL with a solver</a:t>
                      </a:r>
                    </a:p>
                  </a:txBody>
                  <a:tcPr>
                    <a:solidFill>
                      <a:srgbClr val="EEF4F3"/>
                    </a:solidFill>
                  </a:tcPr>
                </a:tc>
                <a:tc>
                  <a:txBody>
                    <a:bodyPr/>
                    <a:lstStyle/>
                    <a:p>
                      <a:r>
                        <a:rPr sz="1400" b="0">
                          <a:solidFill>
                            <a:srgbClr val="1F2A44"/>
                          </a:solidFill>
                        </a:rPr>
                        <a:t>No original-vs-corrected policies</a:t>
                      </a:r>
                    </a:p>
                  </a:txBody>
                  <a:tcPr>
                    <a:solidFill>
                      <a:srgbClr val="EEF4F3"/>
                    </a:solidFill>
                  </a:tcPr>
                </a:tc>
              </a:tr>
              <a:tr h="566928">
                <a:tc>
                  <a:txBody>
                    <a:bodyPr/>
                    <a:lstStyle/>
                    <a:p>
                      <a:r>
                        <a:rPr sz="1400" b="0">
                          <a:solidFill>
                            <a:srgbClr val="1F2A44"/>
                          </a:solidFill>
                        </a:rPr>
                        <a:t>FinGround (2026)</a:t>
                      </a:r>
                    </a:p>
                  </a:txBody>
                  <a:tcPr>
                    <a:solidFill>
                      <a:srgbClr val="FFFFFF"/>
                    </a:solidFill>
                  </a:tcPr>
                </a:tc>
                <a:tc>
                  <a:txBody>
                    <a:bodyPr/>
                    <a:lstStyle/>
                    <a:p>
                      <a:r>
                        <a:rPr sz="1400" b="0">
                          <a:solidFill>
                            <a:srgbClr val="1F2A44"/>
                          </a:solidFill>
                        </a:rPr>
                        <a:t>Grounds claims; flags restatement conflicts</a:t>
                      </a:r>
                    </a:p>
                  </a:txBody>
                  <a:tcPr>
                    <a:solidFill>
                      <a:srgbClr val="FFFFFF"/>
                    </a:solidFill>
                  </a:tcPr>
                </a:tc>
                <a:tc>
                  <a:txBody>
                    <a:bodyPr/>
                    <a:lstStyle/>
                    <a:p>
                      <a:r>
                        <a:rPr sz="1400" b="0">
                          <a:solidFill>
                            <a:srgbClr val="1F2A44"/>
                          </a:solidFill>
                        </a:rPr>
                        <a:t>Defaults to the LATEST filing</a:t>
                      </a:r>
                    </a:p>
                  </a:txBody>
                  <a:tcPr>
                    <a:solidFill>
                      <a:srgbClr val="FFFFFF"/>
                    </a:solidFill>
                  </a:tcPr>
                </a:tc>
              </a:tr>
              <a:tr h="566928">
                <a:tc>
                  <a:txBody>
                    <a:bodyPr/>
                    <a:lstStyle/>
                    <a:p>
                      <a:r>
                        <a:rPr sz="1400" b="0">
                          <a:solidFill>
                            <a:srgbClr val="1F2A44"/>
                          </a:solidFill>
                        </a:rPr>
                        <a:t>FinVerBench (2026)</a:t>
                      </a:r>
                    </a:p>
                  </a:txBody>
                  <a:tcPr>
                    <a:solidFill>
                      <a:srgbClr val="EEF4F3"/>
                    </a:solidFill>
                  </a:tcPr>
                </a:tc>
                <a:tc>
                  <a:txBody>
                    <a:bodyPr/>
                    <a:lstStyle/>
                    <a:p>
                      <a:r>
                        <a:rPr sz="1400" b="0">
                          <a:solidFill>
                            <a:srgbClr val="1F2A44"/>
                          </a:solidFill>
                        </a:rPr>
                        <a:t>Benchmarks statement-consistency checking</a:t>
                      </a:r>
                    </a:p>
                  </a:txBody>
                  <a:tcPr>
                    <a:solidFill>
                      <a:srgbClr val="EEF4F3"/>
                    </a:solidFill>
                  </a:tcPr>
                </a:tc>
                <a:tc>
                  <a:txBody>
                    <a:bodyPr/>
                    <a:lstStyle/>
                    <a:p>
                      <a:r>
                        <a:rPr sz="1400" b="0">
                          <a:solidFill>
                            <a:srgbClr val="1F2A44"/>
                          </a:solidFill>
                        </a:rPr>
                        <a:t>Excludes restated companies</a:t>
                      </a:r>
                    </a:p>
                  </a:txBody>
                  <a:tcPr>
                    <a:solidFill>
                      <a:srgbClr val="EEF4F3"/>
                    </a:solidFill>
                  </a:tcPr>
                </a:tc>
              </a:tr>
              <a:tr h="566928">
                <a:tc>
                  <a:txBody>
                    <a:bodyPr/>
                    <a:lstStyle/>
                    <a:p>
                      <a:r>
                        <a:rPr sz="1400" b="0">
                          <a:solidFill>
                            <a:srgbClr val="1F2A44"/>
                          </a:solidFill>
                        </a:rPr>
                        <a:t>ChronoFact (IJCAI 2025)</a:t>
                      </a:r>
                    </a:p>
                  </a:txBody>
                  <a:tcPr>
                    <a:solidFill>
                      <a:srgbClr val="FFFFFF"/>
                    </a:solidFill>
                  </a:tcPr>
                </a:tc>
                <a:tc>
                  <a:txBody>
                    <a:bodyPr/>
                    <a:lstStyle/>
                    <a:p>
                      <a:r>
                        <a:rPr sz="1400" b="0">
                          <a:solidFill>
                            <a:srgbClr val="1F2A44"/>
                          </a:solidFill>
                        </a:rPr>
                        <a:t>Timeline-based fact verification</a:t>
                      </a:r>
                    </a:p>
                  </a:txBody>
                  <a:tcPr>
                    <a:solidFill>
                      <a:srgbClr val="FFFFFF"/>
                    </a:solidFill>
                  </a:tcPr>
                </a:tc>
                <a:tc>
                  <a:txBody>
                    <a:bodyPr/>
                    <a:lstStyle/>
                    <a:p>
                      <a:r>
                        <a:rPr sz="1400" b="0">
                          <a:solidFill>
                            <a:srgbClr val="1F2A44"/>
                          </a:solidFill>
                        </a:rPr>
                        <a:t>Events, not corrected accounts</a:t>
                      </a:r>
                    </a:p>
                  </a:txBody>
                  <a:tcPr>
                    <a:solidFill>
                      <a:srgbClr val="FFFFFF"/>
                    </a:solidFill>
                  </a:tcPr>
                </a:tc>
              </a:tr>
              <a:tr h="566928">
                <a:tc>
                  <a:txBody>
                    <a:bodyPr/>
                    <a:lstStyle/>
                    <a:p>
                      <a:r>
                        <a:rPr sz="1400" b="0">
                          <a:solidFill>
                            <a:srgbClr val="1F2A44"/>
                          </a:solidFill>
                        </a:rPr>
                        <a:t>AmbiFC (TACL 2024)</a:t>
                      </a:r>
                    </a:p>
                  </a:txBody>
                  <a:tcPr>
                    <a:solidFill>
                      <a:srgbClr val="EEF4F3"/>
                    </a:solidFill>
                  </a:tcPr>
                </a:tc>
                <a:tc>
                  <a:txBody>
                    <a:bodyPr/>
                    <a:lstStyle/>
                    <a:p>
                      <a:r>
                        <a:rPr sz="1400" b="0">
                          <a:solidFill>
                            <a:srgbClr val="1F2A44"/>
                          </a:solidFill>
                        </a:rPr>
                        <a:t>Claims with ambiguous evidence</a:t>
                      </a:r>
                    </a:p>
                  </a:txBody>
                  <a:tcPr>
                    <a:solidFill>
                      <a:srgbClr val="EEF4F3"/>
                    </a:solidFill>
                  </a:tcPr>
                </a:tc>
                <a:tc>
                  <a:txBody>
                    <a:bodyPr/>
                    <a:lstStyle/>
                    <a:p>
                      <a:r>
                        <a:rPr sz="1400" b="0">
                          <a:solidFill>
                            <a:srgbClr val="1F2A44"/>
                          </a:solidFill>
                        </a:rPr>
                        <a:t>Not financial versions</a:t>
                      </a:r>
                    </a:p>
                  </a:txBody>
                  <a:tcPr>
                    <a:solidFill>
                      <a:srgbClr val="EEF4F3"/>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Work completed so far</a:t>
            </a: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1000"/>
              </a:spcAft>
            </a:pPr>
            <a:r>
              <a:rPr sz="1900">
                <a:solidFill>
                  <a:srgbClr val="1F2A44"/>
                </a:solidFill>
              </a:rPr>
              <a:t>• Literature audit: 3 candidate directions compared; 48 references checked against official records</a:t>
            </a:r>
          </a:p>
          <a:p>
            <a:pPr>
              <a:spcAft>
                <a:spcPts val="1000"/>
              </a:spcAft>
            </a:pPr>
            <a:r>
              <a:rPr sz="1900">
                <a:solidFill>
                  <a:srgbClr val="1F2A44"/>
                </a:solidFill>
              </a:rPr>
              <a:t>• Written protocol: 5 authority policies, rounding rules, leakage controls (44-page proposal)</a:t>
            </a:r>
          </a:p>
          <a:p>
            <a:pPr>
              <a:spcAft>
                <a:spcPts val="1000"/>
              </a:spcAft>
            </a:pPr>
            <a:r>
              <a:rPr sz="1900">
                <a:solidFill>
                  <a:srgbClr val="1F2A44"/>
                </a:solidFill>
              </a:rPr>
              <a:t>• Hand-checked pilot: 30 claims, 5 companies, 11 SEC filings, with exact sources</a:t>
            </a:r>
          </a:p>
          <a:p>
            <a:pPr>
              <a:spcAft>
                <a:spcPts val="1000"/>
              </a:spcAft>
            </a:pPr>
            <a:r>
              <a:rPr sz="1900">
                <a:solidFill>
                  <a:srgbClr val="1F2A44"/>
                </a:solidFill>
              </a:rPr>
              <a:t>• Working code (Python):</a:t>
            </a:r>
          </a:p>
          <a:p>
            <a:pPr lvl="1">
              <a:spcAft>
                <a:spcPts val="1000"/>
              </a:spcAft>
            </a:pPr>
            <a:r>
              <a:rPr sz="1700">
                <a:solidFill>
                  <a:srgbClr val="555F6D"/>
                </a:solidFill>
              </a:rPr>
              <a:t>– 5 rule-based verifiers that reproduce all 150 hand-made decisions exactly</a:t>
            </a:r>
          </a:p>
          <a:p>
            <a:pPr lvl="1">
              <a:spcAft>
                <a:spcPts val="1000"/>
              </a:spcAft>
            </a:pPr>
            <a:r>
              <a:rPr sz="1700">
                <a:solidFill>
                  <a:srgbClr val="555F6D"/>
                </a:solidFill>
              </a:rPr>
              <a:t>– Automatic dataset builder: 40 companies, 279 claims from real SEC restatements</a:t>
            </a:r>
          </a:p>
          <a:p>
            <a:pPr lvl="1">
              <a:spcAft>
                <a:spcPts val="1000"/>
              </a:spcAft>
            </a:pPr>
            <a:r>
              <a:rPr sz="1700">
                <a:solidFill>
                  <a:srgbClr val="555F6D"/>
                </a:solidFill>
              </a:rPr>
              <a:t>– AI-model test harness for free models (Gemini, Llama via Groq): ready to run</a:t>
            </a:r>
          </a:p>
          <a:p>
            <a:pPr>
              <a:spcAft>
                <a:spcPts val="1000"/>
              </a:spcAft>
            </a:pPr>
            <a:r>
              <a:rPr sz="1900">
                <a:solidFill>
                  <a:srgbClr val="1F2A44"/>
                </a:solidFill>
              </a:rPr>
              <a:t>• Verified the closest competing papers exist (arXiv) and identified target venues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The methods we compare</a:t>
            </a:r>
          </a:p>
        </p:txBody>
      </p:sp>
      <p:graphicFrame>
        <p:nvGraphicFramePr>
          <p:cNvPr id="4" name="Table 3"/>
          <p:cNvGraphicFramePr>
            <a:graphicFrameLocks noGrp="1"/>
          </p:cNvGraphicFramePr>
          <p:nvPr/>
        </p:nvGraphicFramePr>
        <p:xfrm>
          <a:off x="548640" y="1371600"/>
          <a:ext cx="11064240" cy="4160520"/>
        </p:xfrm>
        <a:graphic>
          <a:graphicData uri="http://schemas.openxmlformats.org/drawingml/2006/table">
            <a:tbl>
              <a:tblPr firstRow="1" bandRow="1">
                <a:tableStyleId>{5C22544A-7EE6-4342-B048-85BDC9FD1C3A}</a:tableStyleId>
              </a:tblPr>
              <a:tblGrid>
                <a:gridCol w="2743200"/>
                <a:gridCol w="1463040"/>
                <a:gridCol w="1463040"/>
                <a:gridCol w="2011680"/>
                <a:gridCol w="3383280"/>
              </a:tblGrid>
              <a:tr h="594360">
                <a:tc>
                  <a:txBody>
                    <a:bodyPr/>
                    <a:lstStyle/>
                    <a:p>
                      <a:r>
                        <a:rPr sz="1500" b="1">
                          <a:solidFill>
                            <a:srgbClr val="FFFFFF"/>
                          </a:solidFill>
                        </a:rPr>
                        <a:t>Method</a:t>
                      </a:r>
                    </a:p>
                  </a:txBody>
                  <a:tcPr>
                    <a:solidFill>
                      <a:srgbClr val="0F766E"/>
                    </a:solidFill>
                  </a:tcPr>
                </a:tc>
                <a:tc>
                  <a:txBody>
                    <a:bodyPr/>
                    <a:lstStyle/>
                    <a:p>
                      <a:r>
                        <a:rPr sz="1500" b="1">
                          <a:solidFill>
                            <a:srgbClr val="FFFFFF"/>
                          </a:solidFill>
                        </a:rPr>
                        <a:t>Uses dates?</a:t>
                      </a:r>
                    </a:p>
                  </a:txBody>
                  <a:tcPr>
                    <a:solidFill>
                      <a:srgbClr val="0F766E"/>
                    </a:solidFill>
                  </a:tcPr>
                </a:tc>
                <a:tc>
                  <a:txBody>
                    <a:bodyPr/>
                    <a:lstStyle/>
                    <a:p>
                      <a:r>
                        <a:rPr sz="1500" b="1">
                          <a:solidFill>
                            <a:srgbClr val="FFFFFF"/>
                          </a:solidFill>
                        </a:rPr>
                        <a:t>Uses policy?</a:t>
                      </a:r>
                    </a:p>
                  </a:txBody>
                  <a:tcPr>
                    <a:solidFill>
                      <a:srgbClr val="0F766E"/>
                    </a:solidFill>
                  </a:tcPr>
                </a:tc>
                <a:tc>
                  <a:txBody>
                    <a:bodyPr/>
                    <a:lstStyle/>
                    <a:p>
                      <a:r>
                        <a:rPr sz="1500" b="1">
                          <a:solidFill>
                            <a:srgbClr val="FFFFFF"/>
                          </a:solidFill>
                        </a:rPr>
                        <a:t>Uses warning notices?</a:t>
                      </a:r>
                    </a:p>
                  </a:txBody>
                  <a:tcPr>
                    <a:solidFill>
                      <a:srgbClr val="0F766E"/>
                    </a:solidFill>
                  </a:tcPr>
                </a:tc>
                <a:tc>
                  <a:txBody>
                    <a:bodyPr/>
                    <a:lstStyle/>
                    <a:p>
                      <a:r>
                        <a:rPr sz="1500" b="1">
                          <a:solidFill>
                            <a:srgbClr val="FFFFFF"/>
                          </a:solidFill>
                        </a:rPr>
                        <a:t>Idea</a:t>
                      </a:r>
                    </a:p>
                  </a:txBody>
                  <a:tcPr>
                    <a:solidFill>
                      <a:srgbClr val="0F766E"/>
                    </a:solidFill>
                  </a:tcPr>
                </a:tc>
              </a:tr>
              <a:tr h="594360">
                <a:tc>
                  <a:txBody>
                    <a:bodyPr/>
                    <a:lstStyle/>
                    <a:p>
                      <a:r>
                        <a:rPr sz="1500" b="0">
                          <a:solidFill>
                            <a:srgbClr val="1F2A44"/>
                          </a:solidFill>
                        </a:rPr>
                        <a:t>B1 context-only</a:t>
                      </a:r>
                    </a:p>
                  </a:txBody>
                  <a:tcPr>
                    <a:solidFill>
                      <a:srgbClr val="EEF4F3"/>
                    </a:solidFill>
                  </a:tcPr>
                </a:tc>
                <a:tc>
                  <a:txBody>
                    <a:bodyPr/>
                    <a:lstStyle/>
                    <a:p>
                      <a:r>
                        <a:rPr sz="1500" b="0">
                          <a:solidFill>
                            <a:srgbClr val="1F2A44"/>
                          </a:solidFill>
                        </a:rPr>
                        <a:t>No</a:t>
                      </a:r>
                    </a:p>
                  </a:txBody>
                  <a:tcPr>
                    <a:solidFill>
                      <a:srgbClr val="EEF4F3"/>
                    </a:solidFill>
                  </a:tcPr>
                </a:tc>
                <a:tc>
                  <a:txBody>
                    <a:bodyPr/>
                    <a:lstStyle/>
                    <a:p>
                      <a:r>
                        <a:rPr sz="1500" b="0">
                          <a:solidFill>
                            <a:srgbClr val="1F2A44"/>
                          </a:solidFill>
                        </a:rPr>
                        <a:t>No</a:t>
                      </a:r>
                    </a:p>
                  </a:txBody>
                  <a:tcPr>
                    <a:solidFill>
                      <a:srgbClr val="EEF4F3"/>
                    </a:solidFill>
                  </a:tcPr>
                </a:tc>
                <a:tc>
                  <a:txBody>
                    <a:bodyPr/>
                    <a:lstStyle/>
                    <a:p>
                      <a:r>
                        <a:rPr sz="1500" b="0">
                          <a:solidFill>
                            <a:srgbClr val="1F2A44"/>
                          </a:solidFill>
                        </a:rPr>
                        <a:t>No</a:t>
                      </a:r>
                    </a:p>
                  </a:txBody>
                  <a:tcPr>
                    <a:solidFill>
                      <a:srgbClr val="EEF4F3"/>
                    </a:solidFill>
                  </a:tcPr>
                </a:tc>
                <a:tc>
                  <a:txBody>
                    <a:bodyPr/>
                    <a:lstStyle/>
                    <a:p>
                      <a:r>
                        <a:rPr sz="1500" b="0">
                          <a:solidFill>
                            <a:srgbClr val="1F2A44"/>
                          </a:solidFill>
                        </a:rPr>
                        <a:t>Any matching number in the documents</a:t>
                      </a:r>
                    </a:p>
                  </a:txBody>
                  <a:tcPr>
                    <a:solidFill>
                      <a:srgbClr val="EEF4F3"/>
                    </a:solidFill>
                  </a:tcPr>
                </a:tc>
              </a:tr>
              <a:tr h="594360">
                <a:tc>
                  <a:txBody>
                    <a:bodyPr/>
                    <a:lstStyle/>
                    <a:p>
                      <a:r>
                        <a:rPr sz="1500" b="0">
                          <a:solidFill>
                            <a:srgbClr val="1F2A44"/>
                          </a:solidFill>
                        </a:rPr>
                        <a:t>B3 latest-before-cutoff</a:t>
                      </a:r>
                    </a:p>
                  </a:txBody>
                  <a:tcPr>
                    <a:solidFill>
                      <a:srgbClr val="FFFFFF"/>
                    </a:solidFill>
                  </a:tcPr>
                </a:tc>
                <a:tc>
                  <a:txBody>
                    <a:bodyPr/>
                    <a:lstStyle/>
                    <a:p>
                      <a:r>
                        <a:rPr sz="1500" b="0">
                          <a:solidFill>
                            <a:srgbClr val="1F2A44"/>
                          </a:solidFill>
                        </a:rPr>
                        <a:t>Yes</a:t>
                      </a:r>
                    </a:p>
                  </a:txBody>
                  <a:tcPr>
                    <a:solidFill>
                      <a:srgbClr val="FFFFFF"/>
                    </a:solidFill>
                  </a:tcPr>
                </a:tc>
                <a:tc>
                  <a:txBody>
                    <a:bodyPr/>
                    <a:lstStyle/>
                    <a:p>
                      <a:r>
                        <a:rPr sz="1500" b="0">
                          <a:solidFill>
                            <a:srgbClr val="1F2A44"/>
                          </a:solidFill>
                        </a:rPr>
                        <a:t>No</a:t>
                      </a:r>
                    </a:p>
                  </a:txBody>
                  <a:tcPr>
                    <a:solidFill>
                      <a:srgbClr val="FFFFFF"/>
                    </a:solidFill>
                  </a:tcPr>
                </a:tc>
                <a:tc>
                  <a:txBody>
                    <a:bodyPr/>
                    <a:lstStyle/>
                    <a:p>
                      <a:r>
                        <a:rPr sz="1500" b="0">
                          <a:solidFill>
                            <a:srgbClr val="1F2A44"/>
                          </a:solidFill>
                        </a:rPr>
                        <a:t>No</a:t>
                      </a:r>
                    </a:p>
                  </a:txBody>
                  <a:tcPr>
                    <a:solidFill>
                      <a:srgbClr val="FFFFFF"/>
                    </a:solidFill>
                  </a:tcPr>
                </a:tc>
                <a:tc>
                  <a:txBody>
                    <a:bodyPr/>
                    <a:lstStyle/>
                    <a:p>
                      <a:r>
                        <a:rPr sz="1500" b="0">
                          <a:solidFill>
                            <a:srgbClr val="1F2A44"/>
                          </a:solidFill>
                        </a:rPr>
                        <a:t>Newest number wins (like FinGround's default)</a:t>
                      </a:r>
                    </a:p>
                  </a:txBody>
                  <a:tcPr>
                    <a:solidFill>
                      <a:srgbClr val="FFFFFF"/>
                    </a:solidFill>
                  </a:tcPr>
                </a:tc>
              </a:tr>
              <a:tr h="594360">
                <a:tc>
                  <a:txBody>
                    <a:bodyPr/>
                    <a:lstStyle/>
                    <a:p>
                      <a:r>
                        <a:rPr sz="1500" b="0">
                          <a:solidFill>
                            <a:srgbClr val="1F2A44"/>
                          </a:solidFill>
                        </a:rPr>
                        <a:t>B4 policy-aware</a:t>
                      </a:r>
                    </a:p>
                  </a:txBody>
                  <a:tcPr>
                    <a:solidFill>
                      <a:srgbClr val="EEF4F3"/>
                    </a:solidFill>
                  </a:tcPr>
                </a:tc>
                <a:tc>
                  <a:txBody>
                    <a:bodyPr/>
                    <a:lstStyle/>
                    <a:p>
                      <a:r>
                        <a:rPr sz="1500" b="0">
                          <a:solidFill>
                            <a:srgbClr val="1F2A44"/>
                          </a:solidFill>
                        </a:rPr>
                        <a:t>Yes</a:t>
                      </a:r>
                    </a:p>
                  </a:txBody>
                  <a:tcPr>
                    <a:solidFill>
                      <a:srgbClr val="EEF4F3"/>
                    </a:solidFill>
                  </a:tcPr>
                </a:tc>
                <a:tc>
                  <a:txBody>
                    <a:bodyPr/>
                    <a:lstStyle/>
                    <a:p>
                      <a:r>
                        <a:rPr sz="1500" b="0">
                          <a:solidFill>
                            <a:srgbClr val="1F2A44"/>
                          </a:solidFill>
                        </a:rPr>
                        <a:t>Yes</a:t>
                      </a:r>
                    </a:p>
                  </a:txBody>
                  <a:tcPr>
                    <a:solidFill>
                      <a:srgbClr val="EEF4F3"/>
                    </a:solidFill>
                  </a:tcPr>
                </a:tc>
                <a:tc>
                  <a:txBody>
                    <a:bodyPr/>
                    <a:lstStyle/>
                    <a:p>
                      <a:r>
                        <a:rPr sz="1500" b="0">
                          <a:solidFill>
                            <a:srgbClr val="1F2A44"/>
                          </a:solidFill>
                        </a:rPr>
                        <a:t>No</a:t>
                      </a:r>
                    </a:p>
                  </a:txBody>
                  <a:tcPr>
                    <a:solidFill>
                      <a:srgbClr val="EEF4F3"/>
                    </a:solidFill>
                  </a:tcPr>
                </a:tc>
                <a:tc>
                  <a:txBody>
                    <a:bodyPr/>
                    <a:lstStyle/>
                    <a:p>
                      <a:r>
                        <a:rPr sz="1500" b="0">
                          <a:solidFill>
                            <a:srgbClr val="1F2A44"/>
                          </a:solidFill>
                        </a:rPr>
                        <a:t>Respects original / corrected question</a:t>
                      </a:r>
                    </a:p>
                  </a:txBody>
                  <a:tcPr>
                    <a:solidFill>
                      <a:srgbClr val="EEF4F3"/>
                    </a:solidFill>
                  </a:tcPr>
                </a:tc>
              </a:tr>
              <a:tr h="594360">
                <a:tc>
                  <a:txBody>
                    <a:bodyPr/>
                    <a:lstStyle/>
                    <a:p>
                      <a:r>
                        <a:rPr sz="1500" b="0">
                          <a:solidFill>
                            <a:srgbClr val="1F2A44"/>
                          </a:solidFill>
                        </a:rPr>
                        <a:t>B4W + withdrawal flag</a:t>
                      </a:r>
                    </a:p>
                  </a:txBody>
                  <a:tcPr>
                    <a:solidFill>
                      <a:srgbClr val="FFFFFF"/>
                    </a:solidFill>
                  </a:tcPr>
                </a:tc>
                <a:tc>
                  <a:txBody>
                    <a:bodyPr/>
                    <a:lstStyle/>
                    <a:p>
                      <a:r>
                        <a:rPr sz="1500" b="0">
                          <a:solidFill>
                            <a:srgbClr val="1F2A44"/>
                          </a:solidFill>
                        </a:rPr>
                        <a:t>Yes</a:t>
                      </a:r>
                    </a:p>
                  </a:txBody>
                  <a:tcPr>
                    <a:solidFill>
                      <a:srgbClr val="FFFFFF"/>
                    </a:solidFill>
                  </a:tcPr>
                </a:tc>
                <a:tc>
                  <a:txBody>
                    <a:bodyPr/>
                    <a:lstStyle/>
                    <a:p>
                      <a:r>
                        <a:rPr sz="1500" b="0">
                          <a:solidFill>
                            <a:srgbClr val="1F2A44"/>
                          </a:solidFill>
                        </a:rPr>
                        <a:t>Yes</a:t>
                      </a:r>
                    </a:p>
                  </a:txBody>
                  <a:tcPr>
                    <a:solidFill>
                      <a:srgbClr val="FFFFFF"/>
                    </a:solidFill>
                  </a:tcPr>
                </a:tc>
                <a:tc>
                  <a:txBody>
                    <a:bodyPr/>
                    <a:lstStyle/>
                    <a:p>
                      <a:r>
                        <a:rPr sz="1500" b="0">
                          <a:solidFill>
                            <a:srgbClr val="1F2A44"/>
                          </a:solidFill>
                        </a:rPr>
                        <a:t>Yes</a:t>
                      </a:r>
                    </a:p>
                  </a:txBody>
                  <a:tcPr>
                    <a:solidFill>
                      <a:srgbClr val="FFFFFF"/>
                    </a:solidFill>
                  </a:tcPr>
                </a:tc>
                <a:tc>
                  <a:txBody>
                    <a:bodyPr/>
                    <a:lstStyle/>
                    <a:p>
                      <a:r>
                        <a:rPr sz="1500" b="0">
                          <a:solidFill>
                            <a:srgbClr val="1F2A44"/>
                          </a:solidFill>
                        </a:rPr>
                        <a:t>Also notices '8-K Item 4.02'</a:t>
                      </a:r>
                    </a:p>
                  </a:txBody>
                  <a:tcPr>
                    <a:solidFill>
                      <a:srgbClr val="FFFFFF"/>
                    </a:solidFill>
                  </a:tcPr>
                </a:tc>
              </a:tr>
              <a:tr h="594360">
                <a:tc>
                  <a:txBody>
                    <a:bodyPr/>
                    <a:lstStyle/>
                    <a:p>
                      <a:r>
                        <a:rPr sz="1500" b="0">
                          <a:solidFill>
                            <a:srgbClr val="1F2A44"/>
                          </a:solidFill>
                        </a:rPr>
                        <a:t>P reference resolver</a:t>
                      </a:r>
                    </a:p>
                  </a:txBody>
                  <a:tcPr>
                    <a:solidFill>
                      <a:srgbClr val="EEF4F3"/>
                    </a:solidFill>
                  </a:tcPr>
                </a:tc>
                <a:tc>
                  <a:txBody>
                    <a:bodyPr/>
                    <a:lstStyle/>
                    <a:p>
                      <a:r>
                        <a:rPr sz="1500" b="0">
                          <a:solidFill>
                            <a:srgbClr val="1F2A44"/>
                          </a:solidFill>
                        </a:rPr>
                        <a:t>Yes</a:t>
                      </a:r>
                    </a:p>
                  </a:txBody>
                  <a:tcPr>
                    <a:solidFill>
                      <a:srgbClr val="EEF4F3"/>
                    </a:solidFill>
                  </a:tcPr>
                </a:tc>
                <a:tc>
                  <a:txBody>
                    <a:bodyPr/>
                    <a:lstStyle/>
                    <a:p>
                      <a:r>
                        <a:rPr sz="1500" b="0">
                          <a:solidFill>
                            <a:srgbClr val="1F2A44"/>
                          </a:solidFill>
                        </a:rPr>
                        <a:t>Yes</a:t>
                      </a:r>
                    </a:p>
                  </a:txBody>
                  <a:tcPr>
                    <a:solidFill>
                      <a:srgbClr val="EEF4F3"/>
                    </a:solidFill>
                  </a:tcPr>
                </a:tc>
                <a:tc>
                  <a:txBody>
                    <a:bodyPr/>
                    <a:lstStyle/>
                    <a:p>
                      <a:r>
                        <a:rPr sz="1500" b="0">
                          <a:solidFill>
                            <a:srgbClr val="1F2A44"/>
                          </a:solidFill>
                        </a:rPr>
                        <a:t>Yes</a:t>
                      </a:r>
                    </a:p>
                  </a:txBody>
                  <a:tcPr>
                    <a:solidFill>
                      <a:srgbClr val="EEF4F3"/>
                    </a:solidFill>
                  </a:tcPr>
                </a:tc>
                <a:tc>
                  <a:txBody>
                    <a:bodyPr/>
                    <a:lstStyle/>
                    <a:p>
                      <a:r>
                        <a:rPr sz="1500" b="0">
                          <a:solidFill>
                            <a:srgbClr val="1F2A44"/>
                          </a:solidFill>
                        </a:rPr>
                        <a:t>Full scoped correction logic</a:t>
                      </a:r>
                    </a:p>
                  </a:txBody>
                  <a:tcPr>
                    <a:solidFill>
                      <a:srgbClr val="EEF4F3"/>
                    </a:solidFill>
                  </a:tcPr>
                </a:tc>
              </a:tr>
              <a:tr h="594360">
                <a:tc>
                  <a:txBody>
                    <a:bodyPr/>
                    <a:lstStyle/>
                    <a:p>
                      <a:r>
                        <a:rPr sz="1500" b="0">
                          <a:solidFill>
                            <a:srgbClr val="1F2A44"/>
                          </a:solidFill>
                        </a:rPr>
                        <a:t>AI models (next step)</a:t>
                      </a:r>
                    </a:p>
                  </a:txBody>
                  <a:tcPr>
                    <a:solidFill>
                      <a:srgbClr val="FFFFFF"/>
                    </a:solidFill>
                  </a:tcPr>
                </a:tc>
                <a:tc>
                  <a:txBody>
                    <a:bodyPr/>
                    <a:lstStyle/>
                    <a:p>
                      <a:r>
                        <a:rPr sz="1500" b="0">
                          <a:solidFill>
                            <a:srgbClr val="1F2A44"/>
                          </a:solidFill>
                        </a:rPr>
                        <a:t>?</a:t>
                      </a:r>
                    </a:p>
                  </a:txBody>
                  <a:tcPr>
                    <a:solidFill>
                      <a:srgbClr val="FFFFFF"/>
                    </a:solidFill>
                  </a:tcPr>
                </a:tc>
                <a:tc>
                  <a:txBody>
                    <a:bodyPr/>
                    <a:lstStyle/>
                    <a:p>
                      <a:r>
                        <a:rPr sz="1500" b="0">
                          <a:solidFill>
                            <a:srgbClr val="1F2A44"/>
                          </a:solidFill>
                        </a:rPr>
                        <a:t>?</a:t>
                      </a:r>
                    </a:p>
                  </a:txBody>
                  <a:tcPr>
                    <a:solidFill>
                      <a:srgbClr val="FFFFFF"/>
                    </a:solidFill>
                  </a:tcPr>
                </a:tc>
                <a:tc>
                  <a:txBody>
                    <a:bodyPr/>
                    <a:lstStyle/>
                    <a:p>
                      <a:r>
                        <a:rPr sz="1500" b="0">
                          <a:solidFill>
                            <a:srgbClr val="1F2A44"/>
                          </a:solidFill>
                        </a:rPr>
                        <a:t>?</a:t>
                      </a:r>
                    </a:p>
                  </a:txBody>
                  <a:tcPr>
                    <a:solidFill>
                      <a:srgbClr val="FFFFFF"/>
                    </a:solidFill>
                  </a:tcPr>
                </a:tc>
                <a:tc>
                  <a:txBody>
                    <a:bodyPr/>
                    <a:lstStyle/>
                    <a:p>
                      <a:r>
                        <a:rPr sz="1500" b="0">
                          <a:solidFill>
                            <a:srgbClr val="1F2A44"/>
                          </a:solidFill>
                        </a:rPr>
                        <a:t>Gemini / Llama, with and without the policy</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Result 1: hand-checked pilot (30 claims, 5 companies)</a:t>
            </a:r>
          </a:p>
        </p:txBody>
      </p:sp>
      <p:graphicFrame>
        <p:nvGraphicFramePr>
          <p:cNvPr id="4" name="Chart 3"/>
          <p:cNvGraphicFramePr>
            <a:graphicFrameLocks noGrp="1"/>
          </p:cNvGraphicFramePr>
          <p:nvPr/>
        </p:nvGraphicFramePr>
        <p:xfrm>
          <a:off x="457200" y="1188720"/>
          <a:ext cx="6949440" cy="5303520"/>
        </p:xfrm>
        <a:graphic>
          <a:graphicData uri="http://schemas.openxmlformats.org/drawingml/2006/chart">
            <c:chart xmlns:c="http://schemas.openxmlformats.org/drawingml/2006/chart" r:id="rId3"/>
          </a:graphicData>
        </a:graphic>
      </p:graphicFrame>
      <p:sp>
        <p:nvSpPr>
          <p:cNvPr id="5" name="Rounded Rectangle 4"/>
          <p:cNvSpPr/>
          <p:nvPr/>
        </p:nvSpPr>
        <p:spPr>
          <a:xfrm>
            <a:off x="7680960" y="1371600"/>
            <a:ext cx="4023360" cy="493776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700" b="1">
                <a:solidFill>
                  <a:srgbClr val="0F766E"/>
                </a:solidFill>
              </a:rPr>
              <a:t>What this shows</a:t>
            </a:r>
          </a:p>
          <a:p>
            <a:pPr algn="l">
              <a:spcAft>
                <a:spcPts val="600"/>
              </a:spcAft>
            </a:pPr>
            <a:r>
              <a:rPr sz="1500">
                <a:solidFill>
                  <a:srgbClr val="1F2A44"/>
                </a:solidFill>
              </a:rPr>
              <a:t>• Ignoring which version is asked about gives wrong answers</a:t>
            </a:r>
          </a:p>
          <a:p>
            <a:pPr algn="l">
              <a:spcAft>
                <a:spcPts val="600"/>
              </a:spcAft>
            </a:pPr>
            <a:r>
              <a:rPr sz="1500">
                <a:solidFill>
                  <a:srgbClr val="1F2A44"/>
                </a:solidFill>
              </a:rPr>
              <a:t>• 'Latest number wins' fails every 'original report' question</a:t>
            </a:r>
          </a:p>
          <a:p>
            <a:pPr algn="l">
              <a:spcAft>
                <a:spcPts val="600"/>
              </a:spcAft>
            </a:pPr>
            <a:r>
              <a:rPr sz="1500">
                <a:solidFill>
                  <a:srgbClr val="1F2A44"/>
                </a:solidFill>
              </a:rPr>
              <a:t>• Warning notices (8-K 4.02) matter: B4 misses the SunPower gap</a:t>
            </a:r>
          </a:p>
          <a:p>
            <a:pPr algn="l">
              <a:spcAft>
                <a:spcPts val="600"/>
              </a:spcAft>
            </a:pPr>
            <a:r>
              <a:rPr sz="1500">
                <a:solidFill>
                  <a:srgbClr val="1F2A44"/>
                </a:solidFill>
              </a:rPr>
              <a:t>• Code reproduces all 150 hand decisions</a:t>
            </a:r>
          </a:p>
          <a:p>
            <a:pPr algn="l">
              <a:spcAft>
                <a:spcPts val="600"/>
              </a:spcAft>
            </a:pPr>
            <a:r>
              <a:rPr sz="1500">
                <a:solidFill>
                  <a:srgbClr val="1F2A44"/>
                </a:solidFill>
              </a:rPr>
              <a:t>• Labels are drafts awaiting human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Result 2: automatic SEC dataset (279 claims, 40 companies)</a:t>
            </a:r>
          </a:p>
        </p:txBody>
      </p:sp>
      <p:graphicFrame>
        <p:nvGraphicFramePr>
          <p:cNvPr id="4" name="Chart 3"/>
          <p:cNvGraphicFramePr>
            <a:graphicFrameLocks noGrp="1"/>
          </p:cNvGraphicFramePr>
          <p:nvPr/>
        </p:nvGraphicFramePr>
        <p:xfrm>
          <a:off x="457200" y="1188720"/>
          <a:ext cx="6949440" cy="5303520"/>
        </p:xfrm>
        <a:graphic>
          <a:graphicData uri="http://schemas.openxmlformats.org/drawingml/2006/chart">
            <c:chart xmlns:c="http://schemas.openxmlformats.org/drawingml/2006/chart" r:id="rId3"/>
          </a:graphicData>
        </a:graphic>
      </p:graphicFrame>
      <p:sp>
        <p:nvSpPr>
          <p:cNvPr id="5" name="Rounded Rectangle 4"/>
          <p:cNvSpPr/>
          <p:nvPr/>
        </p:nvSpPr>
        <p:spPr>
          <a:xfrm>
            <a:off x="7680960" y="1371600"/>
            <a:ext cx="4023360" cy="493776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700" b="1">
                <a:solidFill>
                  <a:srgbClr val="0F766E"/>
                </a:solidFill>
              </a:rPr>
              <a:t>What this shows</a:t>
            </a:r>
          </a:p>
          <a:p>
            <a:pPr algn="l">
              <a:spcAft>
                <a:spcPts val="600"/>
              </a:spcAft>
            </a:pPr>
            <a:r>
              <a:rPr sz="1500">
                <a:solidFill>
                  <a:srgbClr val="1F2A44"/>
                </a:solidFill>
              </a:rPr>
              <a:t>• Pipeline finds real restatements automatically from free SEC data</a:t>
            </a:r>
          </a:p>
          <a:p>
            <a:pPr algn="l">
              <a:spcAft>
                <a:spcPts val="600"/>
              </a:spcAft>
            </a:pPr>
            <a:r>
              <a:rPr sz="1500">
                <a:solidFill>
                  <a:srgbClr val="1F2A44"/>
                </a:solidFill>
              </a:rPr>
              <a:t>• 'Latest wins' fails all 'original report' and 'unspecified' claims</a:t>
            </a:r>
          </a:p>
          <a:p>
            <a:pPr algn="l">
              <a:spcAft>
                <a:spcPts val="600"/>
              </a:spcAft>
            </a:pPr>
            <a:r>
              <a:rPr sz="1500">
                <a:solidFill>
                  <a:srgbClr val="1F2A44"/>
                </a:solidFill>
              </a:rPr>
              <a:t>• Ignoring warnings fails 40 of 279 claims</a:t>
            </a:r>
          </a:p>
          <a:p>
            <a:pPr algn="l">
              <a:spcAft>
                <a:spcPts val="600"/>
              </a:spcAft>
            </a:pPr>
            <a:r>
              <a:rPr sz="1500">
                <a:solidFill>
                  <a:srgbClr val="1F2A44"/>
                </a:solidFill>
              </a:rPr>
              <a:t>• P = 100% by construction (silver labels)</a:t>
            </a:r>
          </a:p>
          <a:p>
            <a:pPr algn="l">
              <a:spcAft>
                <a:spcPts val="600"/>
              </a:spcAft>
            </a:pPr>
            <a:r>
              <a:rPr sz="1500">
                <a:solidFill>
                  <a:srgbClr val="1F2A44"/>
                </a:solidFill>
              </a:rPr>
              <a:t>• Spot-check: Shake Shack 8-K confirmed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Key insight: we contribute a benchmark, not a new algorithm</a:t>
            </a:r>
          </a:p>
        </p:txBody>
      </p:sp>
      <p:sp>
        <p:nvSpPr>
          <p:cNvPr id="4" name="Rounded Rectangle 3"/>
          <p:cNvSpPr/>
          <p:nvPr/>
        </p:nvSpPr>
        <p:spPr>
          <a:xfrm>
            <a:off x="548640" y="1371600"/>
            <a:ext cx="11064240" cy="201168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2000" b="1">
                <a:solidFill>
                  <a:srgbClr val="0F766E"/>
                </a:solidFill>
              </a:rPr>
              <a:t>Finding</a:t>
            </a:r>
          </a:p>
          <a:p>
            <a:pPr algn="l">
              <a:spcAft>
                <a:spcPts val="600"/>
              </a:spcAft>
            </a:pPr>
            <a:r>
              <a:rPr sz="1800">
                <a:solidFill>
                  <a:srgbClr val="1F2A44"/>
                </a:solidFill>
              </a:rPr>
              <a:t>A simple rule (policy-aware + warning flag) is as good as our full resolver on all current cases. So claiming a 'novel algorithm' would be dishonest and reviewers would reject it.</a:t>
            </a:r>
          </a:p>
        </p:txBody>
      </p:sp>
      <p:sp>
        <p:nvSpPr>
          <p:cNvPr id="5" name="Rounded Rectangle 4"/>
          <p:cNvSpPr/>
          <p:nvPr/>
        </p:nvSpPr>
        <p:spPr>
          <a:xfrm>
            <a:off x="548640" y="3657600"/>
            <a:ext cx="11064240" cy="2560320"/>
          </a:xfrm>
          <a:prstGeom prst="roundRect">
            <a:avLst/>
          </a:prstGeom>
          <a:solidFill>
            <a:srgbClr val="EEF4F3"/>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a:lstStyle/>
          <a:p>
            <a:pPr algn="l">
              <a:spcAft>
                <a:spcPts val="1000"/>
              </a:spcAft>
            </a:pPr>
            <a:r>
              <a:rPr sz="1900" b="1">
                <a:solidFill>
                  <a:srgbClr val="0F766E"/>
                </a:solidFill>
              </a:rPr>
              <a:t>Therefore our paper's contribution</a:t>
            </a:r>
          </a:p>
          <a:p>
            <a:pPr algn="l">
              <a:spcAft>
                <a:spcPts val="600"/>
              </a:spcAft>
            </a:pPr>
            <a:r>
              <a:rPr sz="1700">
                <a:solidFill>
                  <a:srgbClr val="1F2A44"/>
                </a:solidFill>
              </a:rPr>
              <a:t>1. A new benchmark: the same claim judged under different authority policies, built from real SEC restatements</a:t>
            </a:r>
          </a:p>
          <a:p>
            <a:pPr algn="l">
              <a:spcAft>
                <a:spcPts val="600"/>
              </a:spcAft>
            </a:pPr>
            <a:r>
              <a:rPr sz="1700">
                <a:solidFill>
                  <a:srgbClr val="1F2A44"/>
                </a:solidFill>
              </a:rPr>
              <a:t>2. An automatic, reproducible pipeline that anyone can rerun from free SEC data</a:t>
            </a:r>
          </a:p>
          <a:p>
            <a:pPr algn="l">
              <a:spcAft>
                <a:spcPts val="600"/>
              </a:spcAft>
            </a:pPr>
            <a:r>
              <a:rPr sz="1700">
                <a:solidFill>
                  <a:srgbClr val="1F2A44"/>
                </a:solidFill>
              </a:rPr>
              <a:t>3. An evaluation of AI language models: do they pick the right version of a number, with and without instructions?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Next steps (in order)</a:t>
            </a:r>
          </a:p>
        </p:txBody>
      </p:sp>
      <p:graphicFrame>
        <p:nvGraphicFramePr>
          <p:cNvPr id="4" name="Table 3"/>
          <p:cNvGraphicFramePr>
            <a:graphicFrameLocks noGrp="1"/>
          </p:cNvGraphicFramePr>
          <p:nvPr/>
        </p:nvGraphicFramePr>
        <p:xfrm>
          <a:off x="548640" y="1371600"/>
          <a:ext cx="11064240" cy="3840479"/>
        </p:xfrm>
        <a:graphic>
          <a:graphicData uri="http://schemas.openxmlformats.org/drawingml/2006/table">
            <a:tbl>
              <a:tblPr firstRow="1" bandRow="1">
                <a:tableStyleId>{5C22544A-7EE6-4342-B048-85BDC9FD1C3A}</a:tableStyleId>
              </a:tblPr>
              <a:tblGrid>
                <a:gridCol w="1463040"/>
                <a:gridCol w="6675120"/>
                <a:gridCol w="2926080"/>
              </a:tblGrid>
              <a:tr h="640079">
                <a:tc>
                  <a:txBody>
                    <a:bodyPr/>
                    <a:lstStyle/>
                    <a:p>
                      <a:r>
                        <a:rPr sz="1500" b="1">
                          <a:solidFill>
                            <a:srgbClr val="FFFFFF"/>
                          </a:solidFill>
                        </a:rPr>
                        <a:t>When</a:t>
                      </a:r>
                    </a:p>
                  </a:txBody>
                  <a:tcPr>
                    <a:solidFill>
                      <a:srgbClr val="0F766E"/>
                    </a:solidFill>
                  </a:tcPr>
                </a:tc>
                <a:tc>
                  <a:txBody>
                    <a:bodyPr/>
                    <a:lstStyle/>
                    <a:p>
                      <a:r>
                        <a:rPr sz="1500" b="1">
                          <a:solidFill>
                            <a:srgbClr val="FFFFFF"/>
                          </a:solidFill>
                        </a:rPr>
                        <a:t>Task</a:t>
                      </a:r>
                    </a:p>
                  </a:txBody>
                  <a:tcPr>
                    <a:solidFill>
                      <a:srgbClr val="0F766E"/>
                    </a:solidFill>
                  </a:tcPr>
                </a:tc>
                <a:tc>
                  <a:txBody>
                    <a:bodyPr/>
                    <a:lstStyle/>
                    <a:p>
                      <a:r>
                        <a:rPr sz="1500" b="1">
                          <a:solidFill>
                            <a:srgbClr val="FFFFFF"/>
                          </a:solidFill>
                        </a:rPr>
                        <a:t>Output</a:t>
                      </a:r>
                    </a:p>
                  </a:txBody>
                  <a:tcPr>
                    <a:solidFill>
                      <a:srgbClr val="0F766E"/>
                    </a:solidFill>
                  </a:tcPr>
                </a:tc>
              </a:tr>
              <a:tr h="640079">
                <a:tc>
                  <a:txBody>
                    <a:bodyPr/>
                    <a:lstStyle/>
                    <a:p>
                      <a:r>
                        <a:rPr sz="1500" b="0">
                          <a:solidFill>
                            <a:srgbClr val="1F2A44"/>
                          </a:solidFill>
                        </a:rPr>
                        <a:t>Week 1</a:t>
                      </a:r>
                    </a:p>
                  </a:txBody>
                  <a:tcPr>
                    <a:solidFill>
                      <a:srgbClr val="EEF4F3"/>
                    </a:solidFill>
                  </a:tcPr>
                </a:tc>
                <a:tc>
                  <a:txBody>
                    <a:bodyPr/>
                    <a:lstStyle/>
                    <a:p>
                      <a:r>
                        <a:rPr sz="1500" b="0">
                          <a:solidFill>
                            <a:srgbClr val="1F2A44"/>
                          </a:solidFill>
                        </a:rPr>
                        <a:t>Run 2 free AI models (Gemini, Llama) on pilot + 279 claims, with and without policy</a:t>
                      </a:r>
                    </a:p>
                  </a:txBody>
                  <a:tcPr>
                    <a:solidFill>
                      <a:srgbClr val="EEF4F3"/>
                    </a:solidFill>
                  </a:tcPr>
                </a:tc>
                <a:tc>
                  <a:txBody>
                    <a:bodyPr/>
                    <a:lstStyle/>
                    <a:p>
                      <a:r>
                        <a:rPr sz="1500" b="0">
                          <a:solidFill>
                            <a:srgbClr val="1F2A44"/>
                          </a:solidFill>
                        </a:rPr>
                        <a:t>AI accuracy table</a:t>
                      </a:r>
                    </a:p>
                  </a:txBody>
                  <a:tcPr>
                    <a:solidFill>
                      <a:srgbClr val="EEF4F3"/>
                    </a:solidFill>
                  </a:tcPr>
                </a:tc>
              </a:tr>
              <a:tr h="640079">
                <a:tc>
                  <a:txBody>
                    <a:bodyPr/>
                    <a:lstStyle/>
                    <a:p>
                      <a:r>
                        <a:rPr sz="1500" b="0">
                          <a:solidFill>
                            <a:srgbClr val="1F2A44"/>
                          </a:solidFill>
                        </a:rPr>
                        <a:t>Week 1–2</a:t>
                      </a:r>
                    </a:p>
                  </a:txBody>
                  <a:tcPr>
                    <a:solidFill>
                      <a:srgbClr val="FFFFFF"/>
                    </a:solidFill>
                  </a:tcPr>
                </a:tc>
                <a:tc>
                  <a:txBody>
                    <a:bodyPr/>
                    <a:lstStyle/>
                    <a:p>
                      <a:r>
                        <a:rPr sz="1500" b="0">
                          <a:solidFill>
                            <a:srgbClr val="1F2A44"/>
                          </a:solidFill>
                        </a:rPr>
                        <a:t>Hand-check 20 companies' numbers and warning notices against SEC links</a:t>
                      </a:r>
                    </a:p>
                  </a:txBody>
                  <a:tcPr>
                    <a:solidFill>
                      <a:srgbClr val="FFFFFF"/>
                    </a:solidFill>
                  </a:tcPr>
                </a:tc>
                <a:tc>
                  <a:txBody>
                    <a:bodyPr/>
                    <a:lstStyle/>
                    <a:p>
                      <a:r>
                        <a:rPr sz="1500" b="0">
                          <a:solidFill>
                            <a:srgbClr val="1F2A44"/>
                          </a:solidFill>
                        </a:rPr>
                        <a:t>Verified 'gold' subset</a:t>
                      </a:r>
                    </a:p>
                  </a:txBody>
                  <a:tcPr>
                    <a:solidFill>
                      <a:srgbClr val="FFFFFF"/>
                    </a:solidFill>
                  </a:tcPr>
                </a:tc>
              </a:tr>
              <a:tr h="640079">
                <a:tc>
                  <a:txBody>
                    <a:bodyPr/>
                    <a:lstStyle/>
                    <a:p>
                      <a:r>
                        <a:rPr sz="1500" b="0">
                          <a:solidFill>
                            <a:srgbClr val="1F2A44"/>
                          </a:solidFill>
                        </a:rPr>
                        <a:t>Week 2</a:t>
                      </a:r>
                    </a:p>
                  </a:txBody>
                  <a:tcPr>
                    <a:solidFill>
                      <a:srgbClr val="EEF4F3"/>
                    </a:solidFill>
                  </a:tcPr>
                </a:tc>
                <a:tc>
                  <a:txBody>
                    <a:bodyPr/>
                    <a:lstStyle/>
                    <a:p>
                      <a:r>
                        <a:rPr sz="1500" b="0">
                          <a:solidFill>
                            <a:srgbClr val="1F2A44"/>
                          </a:solidFill>
                        </a:rPr>
                        <a:t>Ask Prof. Gupta / a finance faculty to review 30 pilot labels</a:t>
                      </a:r>
                    </a:p>
                  </a:txBody>
                  <a:tcPr>
                    <a:solidFill>
                      <a:srgbClr val="EEF4F3"/>
                    </a:solidFill>
                  </a:tcPr>
                </a:tc>
                <a:tc>
                  <a:txBody>
                    <a:bodyPr/>
                    <a:lstStyle/>
                    <a:p>
                      <a:r>
                        <a:rPr sz="1500" b="0">
                          <a:solidFill>
                            <a:srgbClr val="1F2A44"/>
                          </a:solidFill>
                        </a:rPr>
                        <a:t>Independent review</a:t>
                      </a:r>
                    </a:p>
                  </a:txBody>
                  <a:tcPr>
                    <a:solidFill>
                      <a:srgbClr val="EEF4F3"/>
                    </a:solidFill>
                  </a:tcPr>
                </a:tc>
              </a:tr>
              <a:tr h="640079">
                <a:tc>
                  <a:txBody>
                    <a:bodyPr/>
                    <a:lstStyle/>
                    <a:p>
                      <a:r>
                        <a:rPr sz="1500" b="0">
                          <a:solidFill>
                            <a:srgbClr val="1F2A44"/>
                          </a:solidFill>
                        </a:rPr>
                        <a:t>Week 3</a:t>
                      </a:r>
                    </a:p>
                  </a:txBody>
                  <a:tcPr>
                    <a:solidFill>
                      <a:srgbClr val="FFFFFF"/>
                    </a:solidFill>
                  </a:tcPr>
                </a:tc>
                <a:tc>
                  <a:txBody>
                    <a:bodyPr/>
                    <a:lstStyle/>
                    <a:p>
                      <a:r>
                        <a:rPr sz="1500" b="0">
                          <a:solidFill>
                            <a:srgbClr val="1F2A44"/>
                          </a:solidFill>
                        </a:rPr>
                        <a:t>Error analysis: where and why AI models fail</a:t>
                      </a:r>
                    </a:p>
                  </a:txBody>
                  <a:tcPr>
                    <a:solidFill>
                      <a:srgbClr val="FFFFFF"/>
                    </a:solidFill>
                  </a:tcPr>
                </a:tc>
                <a:tc>
                  <a:txBody>
                    <a:bodyPr/>
                    <a:lstStyle/>
                    <a:p>
                      <a:r>
                        <a:rPr sz="1500" b="0">
                          <a:solidFill>
                            <a:srgbClr val="1F2A44"/>
                          </a:solidFill>
                        </a:rPr>
                        <a:t>Figures + examples</a:t>
                      </a:r>
                    </a:p>
                  </a:txBody>
                  <a:tcPr>
                    <a:solidFill>
                      <a:srgbClr val="FFFFFF"/>
                    </a:solidFill>
                  </a:tcPr>
                </a:tc>
              </a:tr>
              <a:tr h="640084">
                <a:tc>
                  <a:txBody>
                    <a:bodyPr/>
                    <a:lstStyle/>
                    <a:p>
                      <a:r>
                        <a:rPr sz="1500" b="0">
                          <a:solidFill>
                            <a:srgbClr val="1F2A44"/>
                          </a:solidFill>
                        </a:rPr>
                        <a:t>Week 3–5</a:t>
                      </a:r>
                    </a:p>
                  </a:txBody>
                  <a:tcPr>
                    <a:solidFill>
                      <a:srgbClr val="EEF4F3"/>
                    </a:solidFill>
                  </a:tcPr>
                </a:tc>
                <a:tc>
                  <a:txBody>
                    <a:bodyPr/>
                    <a:lstStyle/>
                    <a:p>
                      <a:r>
                        <a:rPr sz="1500" b="0">
                          <a:solidFill>
                            <a:srgbClr val="1F2A44"/>
                          </a:solidFill>
                        </a:rPr>
                        <a:t>Write paper (ACL 4–8 pages), internal review, submit</a:t>
                      </a:r>
                    </a:p>
                  </a:txBody>
                  <a:tcPr>
                    <a:solidFill>
                      <a:srgbClr val="EEF4F3"/>
                    </a:solidFill>
                  </a:tcPr>
                </a:tc>
                <a:tc>
                  <a:txBody>
                    <a:bodyPr/>
                    <a:lstStyle/>
                    <a:p>
                      <a:r>
                        <a:rPr sz="1500" b="0">
                          <a:solidFill>
                            <a:srgbClr val="1F2A44"/>
                          </a:solidFill>
                        </a:rPr>
                        <a:t>Submission</a:t>
                      </a:r>
                    </a:p>
                  </a:txBody>
                  <a:tcPr>
                    <a:solidFill>
                      <a:srgbClr val="EEF4F3"/>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Publication plan</a:t>
            </a:r>
          </a:p>
        </p:txBody>
      </p:sp>
      <p:graphicFrame>
        <p:nvGraphicFramePr>
          <p:cNvPr id="4" name="Table 3"/>
          <p:cNvGraphicFramePr>
            <a:graphicFrameLocks noGrp="1"/>
          </p:cNvGraphicFramePr>
          <p:nvPr/>
        </p:nvGraphicFramePr>
        <p:xfrm>
          <a:off x="548640" y="1371600"/>
          <a:ext cx="11064240" cy="3200400"/>
        </p:xfrm>
        <a:graphic>
          <a:graphicData uri="http://schemas.openxmlformats.org/drawingml/2006/table">
            <a:tbl>
              <a:tblPr firstRow="1" bandRow="1">
                <a:tableStyleId>{5C22544A-7EE6-4342-B048-85BDC9FD1C3A}</a:tableStyleId>
              </a:tblPr>
              <a:tblGrid>
                <a:gridCol w="3108960"/>
                <a:gridCol w="2743200"/>
                <a:gridCol w="1828800"/>
                <a:gridCol w="3383280"/>
              </a:tblGrid>
              <a:tr h="640080">
                <a:tc>
                  <a:txBody>
                    <a:bodyPr/>
                    <a:lstStyle/>
                    <a:p>
                      <a:r>
                        <a:rPr sz="1500" b="1">
                          <a:solidFill>
                            <a:srgbClr val="FFFFFF"/>
                          </a:solidFill>
                        </a:rPr>
                        <a:t>Venue</a:t>
                      </a:r>
                    </a:p>
                  </a:txBody>
                  <a:tcPr>
                    <a:solidFill>
                      <a:srgbClr val="0F766E"/>
                    </a:solidFill>
                  </a:tcPr>
                </a:tc>
                <a:tc>
                  <a:txBody>
                    <a:bodyPr/>
                    <a:lstStyle/>
                    <a:p>
                      <a:r>
                        <a:rPr sz="1500" b="1">
                          <a:solidFill>
                            <a:srgbClr val="FFFFFF"/>
                          </a:solidFill>
                        </a:rPr>
                        <a:t>Type / indexing</a:t>
                      </a:r>
                    </a:p>
                  </a:txBody>
                  <a:tcPr>
                    <a:solidFill>
                      <a:srgbClr val="0F766E"/>
                    </a:solidFill>
                  </a:tcPr>
                </a:tc>
                <a:tc>
                  <a:txBody>
                    <a:bodyPr/>
                    <a:lstStyle/>
                    <a:p>
                      <a:r>
                        <a:rPr sz="1500" b="1">
                          <a:solidFill>
                            <a:srgbClr val="FFFFFF"/>
                          </a:solidFill>
                        </a:rPr>
                        <a:t>Deadline</a:t>
                      </a:r>
                    </a:p>
                  </a:txBody>
                  <a:tcPr>
                    <a:solidFill>
                      <a:srgbClr val="0F766E"/>
                    </a:solidFill>
                  </a:tcPr>
                </a:tc>
                <a:tc>
                  <a:txBody>
                    <a:bodyPr/>
                    <a:lstStyle/>
                    <a:p>
                      <a:r>
                        <a:rPr sz="1500" b="1">
                          <a:solidFill>
                            <a:srgbClr val="FFFFFF"/>
                          </a:solidFill>
                        </a:rPr>
                        <a:t>Why</a:t>
                      </a:r>
                    </a:p>
                  </a:txBody>
                  <a:tcPr>
                    <a:solidFill>
                      <a:srgbClr val="0F766E"/>
                    </a:solidFill>
                  </a:tcPr>
                </a:tc>
              </a:tr>
              <a:tr h="640080">
                <a:tc>
                  <a:txBody>
                    <a:bodyPr/>
                    <a:lstStyle/>
                    <a:p>
                      <a:r>
                        <a:rPr sz="1500" b="0">
                          <a:solidFill>
                            <a:srgbClr val="1F2A44"/>
                          </a:solidFill>
                        </a:rPr>
                        <a:t>FNP 2027 @ EACL 2027</a:t>
                      </a:r>
                    </a:p>
                  </a:txBody>
                  <a:tcPr>
                    <a:solidFill>
                      <a:srgbClr val="EEF4F3"/>
                    </a:solidFill>
                  </a:tcPr>
                </a:tc>
                <a:tc>
                  <a:txBody>
                    <a:bodyPr/>
                    <a:lstStyle/>
                    <a:p>
                      <a:r>
                        <a:rPr sz="1500" b="0">
                          <a:solidFill>
                            <a:srgbClr val="1F2A44"/>
                          </a:solidFill>
                        </a:rPr>
                        <a:t>ACL workshop (ACL Anthology)</a:t>
                      </a:r>
                    </a:p>
                  </a:txBody>
                  <a:tcPr>
                    <a:solidFill>
                      <a:srgbClr val="EEF4F3"/>
                    </a:solidFill>
                  </a:tcPr>
                </a:tc>
                <a:tc>
                  <a:txBody>
                    <a:bodyPr/>
                    <a:lstStyle/>
                    <a:p>
                      <a:r>
                        <a:rPr sz="1500" b="0">
                          <a:solidFill>
                            <a:srgbClr val="1F2A44"/>
                          </a:solidFill>
                        </a:rPr>
                        <a:t>15 Dec 2026</a:t>
                      </a:r>
                    </a:p>
                  </a:txBody>
                  <a:tcPr>
                    <a:solidFill>
                      <a:srgbClr val="EEF4F3"/>
                    </a:solidFill>
                  </a:tcPr>
                </a:tc>
                <a:tc>
                  <a:txBody>
                    <a:bodyPr/>
                    <a:lstStyle/>
                    <a:p>
                      <a:r>
                        <a:rPr sz="1500" b="0">
                          <a:solidFill>
                            <a:srgbClr val="1F2A44"/>
                          </a:solidFill>
                        </a:rPr>
                        <a:t>Financial NLP; accepts datasets and short papers</a:t>
                      </a:r>
                    </a:p>
                  </a:txBody>
                  <a:tcPr>
                    <a:solidFill>
                      <a:srgbClr val="EEF4F3"/>
                    </a:solidFill>
                  </a:tcPr>
                </a:tc>
              </a:tr>
              <a:tr h="640080">
                <a:tc>
                  <a:txBody>
                    <a:bodyPr/>
                    <a:lstStyle/>
                    <a:p>
                      <a:r>
                        <a:rPr sz="1500" b="0">
                          <a:solidFill>
                            <a:srgbClr val="1F2A44"/>
                          </a:solidFill>
                        </a:rPr>
                        <a:t>SANKALP 2027 (IIITM Gwalior)</a:t>
                      </a:r>
                    </a:p>
                  </a:txBody>
                  <a:tcPr>
                    <a:solidFill>
                      <a:srgbClr val="FFFFFF"/>
                    </a:solidFill>
                  </a:tcPr>
                </a:tc>
                <a:tc>
                  <a:txBody>
                    <a:bodyPr/>
                    <a:lstStyle/>
                    <a:p>
                      <a:r>
                        <a:rPr sz="1500" b="0">
                          <a:solidFill>
                            <a:srgbClr val="1F2A44"/>
                          </a:solidFill>
                        </a:rPr>
                        <a:t>IEEE conference</a:t>
                      </a:r>
                    </a:p>
                  </a:txBody>
                  <a:tcPr>
                    <a:solidFill>
                      <a:srgbClr val="FFFFFF"/>
                    </a:solidFill>
                  </a:tcPr>
                </a:tc>
                <a:tc>
                  <a:txBody>
                    <a:bodyPr/>
                    <a:lstStyle/>
                    <a:p>
                      <a:r>
                        <a:rPr sz="1500" b="0">
                          <a:solidFill>
                            <a:srgbClr val="1F2A44"/>
                          </a:solidFill>
                        </a:rPr>
                        <a:t>30 Nov 2026</a:t>
                      </a:r>
                    </a:p>
                  </a:txBody>
                  <a:tcPr>
                    <a:solidFill>
                      <a:srgbClr val="FFFFFF"/>
                    </a:solidFill>
                  </a:tcPr>
                </a:tc>
                <a:tc>
                  <a:txBody>
                    <a:bodyPr/>
                    <a:lstStyle/>
                    <a:p>
                      <a:r>
                        <a:rPr sz="1500" b="0">
                          <a:solidFill>
                            <a:srgbClr val="1F2A44"/>
                          </a:solidFill>
                        </a:rPr>
                        <a:t>Nearest deadline; broad AI scope</a:t>
                      </a:r>
                    </a:p>
                  </a:txBody>
                  <a:tcPr>
                    <a:solidFill>
                      <a:srgbClr val="FFFFFF"/>
                    </a:solidFill>
                  </a:tcPr>
                </a:tc>
              </a:tr>
              <a:tr h="640080">
                <a:tc>
                  <a:txBody>
                    <a:bodyPr/>
                    <a:lstStyle/>
                    <a:p>
                      <a:r>
                        <a:rPr sz="1500" b="0">
                          <a:solidFill>
                            <a:srgbClr val="1F2A44"/>
                          </a:solidFill>
                        </a:rPr>
                        <a:t>BDA 2027 (NIT Warangal)</a:t>
                      </a:r>
                    </a:p>
                  </a:txBody>
                  <a:tcPr>
                    <a:solidFill>
                      <a:srgbClr val="EEF4F3"/>
                    </a:solidFill>
                  </a:tcPr>
                </a:tc>
                <a:tc>
                  <a:txBody>
                    <a:bodyPr/>
                    <a:lstStyle/>
                    <a:p>
                      <a:r>
                        <a:rPr sz="1500" b="0">
                          <a:solidFill>
                            <a:srgbClr val="1F2A44"/>
                          </a:solidFill>
                        </a:rPr>
                        <a:t>Springer LNCS (Scopus)</a:t>
                      </a:r>
                    </a:p>
                  </a:txBody>
                  <a:tcPr>
                    <a:solidFill>
                      <a:srgbClr val="EEF4F3"/>
                    </a:solidFill>
                  </a:tcPr>
                </a:tc>
                <a:tc>
                  <a:txBody>
                    <a:bodyPr/>
                    <a:lstStyle/>
                    <a:p>
                      <a:r>
                        <a:rPr sz="1500" b="0">
                          <a:solidFill>
                            <a:srgbClr val="1F2A44"/>
                          </a:solidFill>
                        </a:rPr>
                        <a:t>15 Feb 2027</a:t>
                      </a:r>
                    </a:p>
                  </a:txBody>
                  <a:tcPr>
                    <a:solidFill>
                      <a:srgbClr val="EEF4F3"/>
                    </a:solidFill>
                  </a:tcPr>
                </a:tc>
                <a:tc>
                  <a:txBody>
                    <a:bodyPr/>
                    <a:lstStyle/>
                    <a:p>
                      <a:r>
                        <a:rPr sz="1500" b="0">
                          <a:solidFill>
                            <a:srgbClr val="1F2A44"/>
                          </a:solidFill>
                        </a:rPr>
                        <a:t>Backup with more time</a:t>
                      </a:r>
                    </a:p>
                  </a:txBody>
                  <a:tcPr>
                    <a:solidFill>
                      <a:srgbClr val="EEF4F3"/>
                    </a:solidFill>
                  </a:tcPr>
                </a:tc>
              </a:tr>
              <a:tr h="640080">
                <a:tc>
                  <a:txBody>
                    <a:bodyPr/>
                    <a:lstStyle/>
                    <a:p>
                      <a:r>
                        <a:rPr sz="1500" b="0">
                          <a:solidFill>
                            <a:srgbClr val="1F2A44"/>
                          </a:solidFill>
                        </a:rPr>
                        <a:t>ICAIF 2027 / FinNLP 2027</a:t>
                      </a:r>
                    </a:p>
                  </a:txBody>
                  <a:tcPr>
                    <a:solidFill>
                      <a:srgbClr val="FFFFFF"/>
                    </a:solidFill>
                  </a:tcPr>
                </a:tc>
                <a:tc>
                  <a:txBody>
                    <a:bodyPr/>
                    <a:lstStyle/>
                    <a:p>
                      <a:r>
                        <a:rPr sz="1500" b="0">
                          <a:solidFill>
                            <a:srgbClr val="1F2A44"/>
                          </a:solidFill>
                        </a:rPr>
                        <a:t>ACM / ACL, top venues</a:t>
                      </a:r>
                    </a:p>
                  </a:txBody>
                  <a:tcPr>
                    <a:solidFill>
                      <a:srgbClr val="FFFFFF"/>
                    </a:solidFill>
                  </a:tcPr>
                </a:tc>
                <a:tc>
                  <a:txBody>
                    <a:bodyPr/>
                    <a:lstStyle/>
                    <a:p>
                      <a:r>
                        <a:rPr sz="1500" b="0">
                          <a:solidFill>
                            <a:srgbClr val="1F2A44"/>
                          </a:solidFill>
                        </a:rPr>
                        <a:t>~Aug 2027 (TBA)</a:t>
                      </a:r>
                    </a:p>
                  </a:txBody>
                  <a:tcPr>
                    <a:solidFill>
                      <a:srgbClr val="FFFFFF"/>
                    </a:solidFill>
                  </a:tcPr>
                </a:tc>
                <a:tc>
                  <a:txBody>
                    <a:bodyPr/>
                    <a:lstStyle/>
                    <a:p>
                      <a:r>
                        <a:rPr sz="1500" b="0">
                          <a:solidFill>
                            <a:srgbClr val="1F2A44"/>
                          </a:solidFill>
                        </a:rPr>
                        <a:t>Stretch goal for extended version</a:t>
                      </a:r>
                    </a:p>
                  </a:txBody>
                  <a:tcPr>
                    <a:solidFill>
                      <a:srgbClr val="FFFFFF"/>
                    </a:solidFill>
                  </a:tcPr>
                </a:tc>
              </a:tr>
            </a:tbl>
          </a:graphicData>
        </a:graphic>
      </p:graphicFrame>
      <p:sp>
        <p:nvSpPr>
          <p:cNvPr id="5" name="TextBox 4"/>
          <p:cNvSpPr txBox="1"/>
          <p:nvPr/>
        </p:nvSpPr>
        <p:spPr>
          <a:xfrm>
            <a:off x="548640" y="4937760"/>
            <a:ext cx="10972800" cy="457200"/>
          </a:xfrm>
          <a:prstGeom prst="rect">
            <a:avLst/>
          </a:prstGeom>
          <a:noFill/>
        </p:spPr>
        <p:txBody>
          <a:bodyPr wrap="square">
            <a:spAutoFit/>
          </a:bodyPr>
          <a:lstStyle/>
          <a:p>
            <a:pPr algn="l">
              <a:spcAft>
                <a:spcPts val="800"/>
              </a:spcAft>
            </a:pPr>
            <a:r>
              <a:rPr sz="1400" b="0">
                <a:solidFill>
                  <a:srgbClr val="555F6D"/>
                </a:solidFill>
              </a:rPr>
              <a:t>Deadlines checked on 26 Oct 2026; confirm on official websites before submitting.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731520"/>
          </a:xfrm>
          <a:prstGeom prst="rect">
            <a:avLst/>
          </a:prstGeom>
          <a:noFill/>
        </p:spPr>
        <p:txBody>
          <a:bodyPr wrap="square">
            <a:spAutoFit/>
          </a:bodyPr>
          <a:lstStyle/>
          <a:p>
            <a:pPr algn="l">
              <a:spcAft>
                <a:spcPts val="800"/>
              </a:spcAft>
            </a:pPr>
            <a:r>
              <a:rPr sz="3000" b="1">
                <a:solidFill>
                  <a:srgbClr val="FFFFFF"/>
                </a:solidFill>
              </a:rPr>
              <a:t>Limitations we are aware of</a:t>
            </a: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1000"/>
              </a:spcAft>
            </a:pPr>
            <a:r>
              <a:rPr sz="1900">
                <a:solidFill>
                  <a:srgbClr val="1F2A44"/>
                </a:solidFill>
              </a:rPr>
              <a:t>• Pilot labels were drafted by one analyst, so they need independent human review</a:t>
            </a:r>
          </a:p>
          <a:p>
            <a:pPr>
              <a:spcAft>
                <a:spcPts val="1000"/>
              </a:spcAft>
            </a:pPr>
            <a:r>
              <a:rPr sz="1900">
                <a:solidFill>
                  <a:srgbClr val="1F2A44"/>
                </a:solidFill>
              </a:rPr>
              <a:t>• Automatic labels are 'silver' (from rule P), so we will hand-check a sample of about 20 companies</a:t>
            </a:r>
          </a:p>
          <a:p>
            <a:pPr>
              <a:spcAft>
                <a:spcPts val="1000"/>
              </a:spcAft>
            </a:pPr>
            <a:r>
              <a:rPr sz="1900">
                <a:solidFill>
                  <a:srgbClr val="1F2A44"/>
                </a:solidFill>
              </a:rPr>
              <a:t>• Claims about the same company are not independent: we report company-level accuracy</a:t>
            </a:r>
          </a:p>
          <a:p>
            <a:pPr>
              <a:spcAft>
                <a:spcPts val="1000"/>
              </a:spcAft>
            </a:pPr>
            <a:r>
              <a:rPr sz="1900">
                <a:solidFill>
                  <a:srgbClr val="1F2A44"/>
                </a:solidFill>
              </a:rPr>
              <a:t>• SEC Company Facts gives whole-company figures only; mergers can mimic corrections (filtered and flagged)</a:t>
            </a:r>
          </a:p>
          <a:p>
            <a:pPr>
              <a:spcAft>
                <a:spcPts val="1000"/>
              </a:spcAft>
            </a:pPr>
            <a:r>
              <a:rPr sz="1900">
                <a:solidFill>
                  <a:srgbClr val="1F2A44"/>
                </a:solidFill>
              </a:rPr>
              <a:t>• US companies and net income only, for now; segments and quarterly data are future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097280"/>
          </a:xfrm>
          <a:prstGeom prst="rect">
            <a:avLst/>
          </a:prstGeom>
          <a:noFill/>
        </p:spPr>
        <p:txBody>
          <a:bodyPr wrap="square">
            <a:spAutoFit/>
          </a:bodyPr>
          <a:lstStyle/>
          <a:p>
            <a:pPr algn="ctr">
              <a:spcAft>
                <a:spcPts val="800"/>
              </a:spcAft>
            </a:pPr>
            <a:r>
              <a:rPr sz="4400" b="1">
                <a:solidFill>
                  <a:srgbClr val="FFFFFF"/>
                </a:solidFill>
              </a:rPr>
              <a:t>Thank you. Questions?</a:t>
            </a:r>
          </a:p>
        </p:txBody>
      </p:sp>
      <p:sp>
        <p:nvSpPr>
          <p:cNvPr id="4" name="TextBox 3"/>
          <p:cNvSpPr txBox="1"/>
          <p:nvPr/>
        </p:nvSpPr>
        <p:spPr>
          <a:xfrm>
            <a:off x="731520" y="3657600"/>
            <a:ext cx="10698480" cy="731520"/>
          </a:xfrm>
          <a:prstGeom prst="rect">
            <a:avLst/>
          </a:prstGeom>
          <a:noFill/>
        </p:spPr>
        <p:txBody>
          <a:bodyPr wrap="square">
            <a:spAutoFit/>
          </a:bodyPr>
          <a:lstStyle/>
          <a:p>
            <a:pPr algn="ctr">
              <a:spcAft>
                <a:spcPts val="800"/>
              </a:spcAft>
            </a:pPr>
            <a:r>
              <a:rPr sz="2000" b="0">
                <a:solidFill>
                  <a:srgbClr val="B8E0DA"/>
                </a:solidFill>
              </a:rPr>
              <a:t>Code and data: github.com/Shreya732-debug/Research-Work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